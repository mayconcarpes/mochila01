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Resolução por Meta-Heurísticas Local e Populacional</a:t>
            </a:r>
          </a:p>
          <a:p>
            <a:pPr>
              <a:defRPr sz="2000">
                <a:solidFill>
                  <a:srgbClr val="C8D7F0"/>
                </a:solidFill>
              </a:defRPr>
            </a:pPr>
            <a:r>
              <a:t>Análise Comparativa: Busca Tabu vs Algoritmo Genético em 9 Instâncias Benchmark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Autor: Maycon Carpes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Definição e Formulação Matemática do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Conceito Geral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Definição: </a:t>
            </a:r>
            <a:r>
              <a:rPr b="0"/>
              <a:t>Dado um conjunto de N itens, cada um com peso w_i e lucro p_i, e uma mochila com capacidade C.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Objetivo: </a:t>
            </a:r>
            <a:r>
              <a:rPr b="0"/>
              <a:t>Selecionar um subconjunto de itens que maximize o lucro total sem que o peso exceda a capacidade.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Natureza Combinatória: </a:t>
            </a:r>
            <a:r>
              <a:rPr b="0"/>
              <a:t>O número de soluções possíveis é 2^N. Trata-se de um problema NP-Difícil (NP-Hard).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Necessidade de Heurísticas: </a:t>
            </a:r>
            <a:r>
              <a:rPr b="0"/>
              <a:t>Para N elevado (ex: N=100), a busca exaustiva se torna inviável, justificando o uso de Meta-heurísticas.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Formulação Matemática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Variável de Decisão:</a:t>
            </a:r>
            <a:r>
              <a:rPr b="0"/>
              <a:t>
  x_i ∈ {0, 1} para cada item i=1..N
  (1 se o item for incluído, 0 caso contrário)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Função Objetivo (Maximizar Lucro):</a:t>
            </a:r>
            <a:r>
              <a:rPr b="0"/>
              <a:t>
  Maximize  Z = ∑ (p_i * x_i)  para i=1..N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Restrição de Capacidade:</a:t>
            </a:r>
            <a:r>
              <a:rPr b="0"/>
              <a:t>
  Sujeito a  ∑ (w_i * x_i) ≤ C  para i=1..N</a:t>
            </a:r>
          </a:p>
          <a:p>
            <a:pPr>
              <a:defRPr b="1" sz="1400">
                <a:solidFill>
                  <a:srgbClr val="1E1E1E"/>
                </a:solidFill>
              </a:defRPr>
            </a:pPr>
            <a:r>
              <a:t>• Desafio da Factibilidade:</a:t>
            </a:r>
            <a:r>
              <a:rPr b="0"/>
              <a:t>
  Soluções onde o peso excede C são infactíveis e precisam de estratégias de reparo.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Conjunto de Dados — 9 Instâncias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286000"/>
                <a:gridCol w="2286000"/>
                <a:gridCol w="249905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Instância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Nº de Itens (N)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Capacidade (C)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Lucro Ótimo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Fonte do Dataset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1.735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P08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6.404.180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13.549.094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Burkardt (FSU)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</a:defRPr>
                      </a:pPr>
                      <a:r>
                        <a:t>knapPI_1_100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9.147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Pisinger (Large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Arquitetura do Código e Organização de Módulos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Organização dos Módulos (Clean Code &amp; Princípio da Responsabilidade Única)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src/models/: </a:t>
            </a:r>
            <a:r>
              <a:rPr b="0">
                <a:solidFill>
                  <a:srgbClr val="1E1E1E"/>
                </a:solidFill>
              </a:rPr>
              <a:t>Definições das Estruturas de Dados via dataclass (KnapsackInstance, ExecutionResult).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src/utils/: </a:t>
            </a:r>
            <a:r>
              <a:rPr b="0">
                <a:solidFill>
                  <a:srgbClr val="1E1E1E"/>
                </a:solidFill>
              </a:rPr>
              <a:t>Heurísticas auxiliares: greedy_solution (ordenação por lucro/peso) e repair_solution (reparo de factibilidade).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src/algorithms/: </a:t>
            </a:r>
            <a:r>
              <a:rPr b="0">
                <a:solidFill>
                  <a:srgbClr val="1E1E1E"/>
                </a:solidFill>
              </a:rPr>
              <a:t>Implementação polimórfica herdando de BaseAlgorithm (TabuSearch e GeneticAlgorithm).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src/runners/: </a:t>
            </a:r>
            <a:r>
              <a:rPr b="0">
                <a:solidFill>
                  <a:srgbClr val="1E1E1E"/>
                </a:solidFill>
              </a:rPr>
              <a:t>Orquestrador de experimentos (ExperimentRunner) e Gerador automático de relatórios CSV e Word DOCX (ReportGenerator).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data/instances.py: </a:t>
            </a:r>
            <a:r>
              <a:rPr b="0">
                <a:solidFill>
                  <a:srgbClr val="1E1E1E"/>
                </a:solidFill>
              </a:rPr>
              <a:t>Módulo centralizador contendo os dados das 9 instâncias benchmark pré-configuradas.</a:t>
            </a:r>
          </a:p>
          <a:p>
            <a:pPr>
              <a:defRPr b="1" sz="1300">
                <a:solidFill>
                  <a:srgbClr val="0078D7"/>
                </a:solidFill>
              </a:defRPr>
            </a:pPr>
            <a:r>
              <a:t>• main.py: </a:t>
            </a:r>
            <a:r>
              <a:rPr b="0">
                <a:solidFill>
                  <a:srgbClr val="1E1E1E"/>
                </a:solidFill>
              </a:rPr>
              <a:t>Ponto de entrada do sistema: constrói a grade de hiperparâmetros, executa os experimentos e compila as métricas.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Meta-heurística Local — Busca Tabu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Visão Geral da Busca Tabu</a:t>
            </a:r>
          </a:p>
          <a:p>
            <a:pPr>
              <a:defRPr b="1" sz="1300"/>
            </a:pPr>
            <a:r>
              <a:t>• Tipo de Busca: </a:t>
            </a:r>
            <a:r>
              <a:rPr b="0"/>
              <a:t>Meta-heurística baseada em solução única (busca local em vizinhança).</a:t>
            </a:r>
          </a:p>
          <a:p>
            <a:pPr>
              <a:defRPr b="1" sz="1300"/>
            </a:pPr>
            <a:r>
              <a:t>• Inicialização: </a:t>
            </a:r>
            <a:r>
              <a:rPr b="0"/>
              <a:t>Solução inicial gerada pela Heurística Gulosa por razão lucro/peso.</a:t>
            </a:r>
          </a:p>
          <a:p>
            <a:pPr>
              <a:defRPr b="1" sz="1300"/>
            </a:pPr>
            <a:r>
              <a:t>• Estrutura de Memória: </a:t>
            </a:r>
            <a:r>
              <a:rPr b="0"/>
              <a:t>Lista Tabu FIFO de tamanho fixo para evitar ciclagem e escapar de mínimos locais.</a:t>
            </a:r>
          </a:p>
          <a:p>
            <a:pPr>
              <a:defRPr b="1" sz="1300"/>
            </a:pPr>
            <a:r>
              <a:t>• Definição de Vizinhança: </a:t>
            </a:r>
            <a:r>
              <a:rPr b="0"/>
              <a:t>Movimento de Flip de 1-bit (inverter inclusão/exclusão de um item por vez).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Mecanismos de Controle</a:t>
            </a:r>
          </a:p>
          <a:p>
            <a:pPr>
              <a:defRPr b="1" sz="1300"/>
            </a:pPr>
            <a:r>
              <a:t>• Critério de Aspiração: </a:t>
            </a:r>
            <a:r>
              <a:rPr b="0"/>
              <a:t>Um movimento tabu PODE ser aceito se resultar em um lucro estritamente SUPERIOR à melhor solução global encontrada até então.</a:t>
            </a:r>
          </a:p>
          <a:p>
            <a:pPr>
              <a:defRPr b="1" sz="1300"/>
            </a:pPr>
            <a:r>
              <a:t>• Reparo de Vizinhança: </a:t>
            </a:r>
            <a:r>
              <a:rPr b="0"/>
              <a:t>Cada vizinho gerado passa pelo repair_solution para remover itens de menor razão lucro/peso se exceder a capacidade C.</a:t>
            </a:r>
          </a:p>
          <a:p>
            <a:pPr>
              <a:defRPr b="1" sz="1300"/>
            </a:pPr>
            <a:r>
              <a:t>• Critério de Parada: </a:t>
            </a:r>
            <a:r>
              <a:rPr b="0"/>
              <a:t>Número máximo de iterações atingido ou ausência de vizinhos válidos.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Busca Tabu — Hiperparâmetros Testados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484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230575"/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Tamanho da Lista Tabu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Iterações Máximas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de Combinações / Testes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9 configurações por instância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x 9 instâncias benchmark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= 81 cenários x 3 repetições = 243 execuções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Meta-heurística Populacional — Algoritmo Genético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Representação e Operadores Genéticos</a:t>
            </a:r>
          </a:p>
          <a:p>
            <a:pPr>
              <a:defRPr b="1" sz="1300"/>
            </a:pPr>
            <a:r>
              <a:t>• Cromossomo: </a:t>
            </a:r>
            <a:r>
              <a:rPr b="0"/>
              <a:t>Vetor binário de tamanho N, onde x_i = 1 indica inclusão do item i.</a:t>
            </a:r>
          </a:p>
          <a:p>
            <a:pPr>
              <a:defRPr b="1" sz="1300"/>
            </a:pPr>
            <a:r>
              <a:t>• Inicialização: </a:t>
            </a:r>
            <a:r>
              <a:rPr b="0"/>
              <a:t>População aleatória combinada com 1 indivíduo da Heurística Gulosa (seeding).</a:t>
            </a:r>
          </a:p>
          <a:p>
            <a:pPr>
              <a:defRPr b="1" sz="1300"/>
            </a:pPr>
            <a:r>
              <a:t>• Seleção por Torneio: </a:t>
            </a:r>
            <a:r>
              <a:rPr b="0"/>
              <a:t>Torneio k=3 para selecionar os genitores com maior fitness (lucro).</a:t>
            </a:r>
          </a:p>
          <a:p>
            <a:pPr>
              <a:defRPr b="1" sz="1300"/>
            </a:pPr>
            <a:r>
              <a:t>• Crossover: </a:t>
            </a:r>
            <a:r>
              <a:rPr b="0"/>
              <a:t>Crossover de 1 ponto com taxa configurável (80%).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Diversidade e Manutenção de Elitismo</a:t>
            </a:r>
          </a:p>
          <a:p>
            <a:pPr>
              <a:defRPr b="1" sz="1300"/>
            </a:pPr>
            <a:r>
              <a:t>• Mutação Bit-Flip: </a:t>
            </a:r>
            <a:r>
              <a:rPr b="0"/>
              <a:t>Inversão binária por gene com taxas de 1% e 5% para manutenção da variabilidade genética.</a:t>
            </a:r>
          </a:p>
          <a:p>
            <a:pPr>
              <a:defRPr b="1" sz="1300"/>
            </a:pPr>
            <a:r>
              <a:t>• Elitismo Estrito: </a:t>
            </a:r>
            <a:r>
              <a:rPr b="0"/>
              <a:t>O melhor indivíduo da geração é preservado inalterado diretamente na próxima população.</a:t>
            </a:r>
          </a:p>
          <a:p>
            <a:pPr>
              <a:defRPr b="1" sz="1300"/>
            </a:pPr>
            <a:r>
              <a:t>• Garantia de Factibilidade: </a:t>
            </a:r>
            <a:r>
              <a:rPr b="0"/>
              <a:t>Todos os descendentes mutados passam obrigatoriamente pelo reparo guloso de capacidade.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Algoritmo Genético — Hiperparâmetros Testados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047695"/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Tamanho da População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Número de Gerações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Taxa de Mutação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de Execuções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 (1%)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12 configurações por instância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0.05 (5%)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x 9 instâncias benchmark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Crossover: 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Elitismo: 1 ind.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= 108 cenários x 3 rep. = 324 exec.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Resultados Comparativos — Qualidade da Solução e Gap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828800"/>
                <a:gridCol w="1828800"/>
                <a:gridCol w="1463040"/>
                <a:gridCol w="1737360"/>
                <a:gridCol w="1401775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Instância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Itens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Ótimo Conhecido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Busca Tabu (Lucro)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 BT (%)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Alg. Genético (Lucro)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 AG (%)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42828"/>
                          </a:solidFill>
                        </a:defRPr>
                      </a:pPr>
                      <a:r>
                        <a:t>7,84%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42828"/>
                          </a:solidFill>
                        </a:defRPr>
                      </a:pPr>
                      <a:r>
                        <a:t>4,67%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1.735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1.735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1.735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42828"/>
                          </a:solidFill>
                        </a:defRPr>
                      </a:pPr>
                      <a:r>
                        <a:t>0,14%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13.549.094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13.449.995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42828"/>
                          </a:solidFill>
                        </a:defRPr>
                      </a:pPr>
                      <a:r>
                        <a:t>0,73%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13.549.094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knapPI_1_100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42828"/>
                          </a:solidFill>
                        </a:defRPr>
                      </a:pPr>
                      <a:r>
                        <a:t>3,61%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7C41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Análise de Desempenho — Tempo de Execução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011680"/>
                <a:gridCol w="2011680"/>
                <a:gridCol w="1645920"/>
                <a:gridCol w="140177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Instância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Itens (N)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Tempo Busca Tabu (s)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Tempo Alg. Genético (s)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 BT (%)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 AG (%)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0,0017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0,0209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0,0000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0,0164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7,84%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0,0007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0,0168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0,0009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0,0174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0,0011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0,0180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4,67%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0,0010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0,0178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0,0034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0,0216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P08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0,0071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0,0324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0,73%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knapPI_1_100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0,1039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0,0838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3,61%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000" b="1">
                <a:solidFill>
                  <a:srgbClr val="0078D7"/>
                </a:solidFill>
              </a:defRPr>
            </a:pPr>
            <a:r>
              <a:t>PROBLEMA DA MOCHILA 0/1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Conclusões e Discussão dos 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Qualidade da Solução</a:t>
            </a:r>
          </a:p>
          <a:p>
            <a:pPr>
              <a:defRPr b="1" sz="1300"/>
            </a:pPr>
            <a:r>
              <a:t>• Algoritmo Genético: </a:t>
            </a:r>
            <a:r>
              <a:rPr b="0"/>
              <a:t>Alcançou 100% de sucesso nas 9 instâncias (Gap Médio de 0,00%).</a:t>
            </a:r>
          </a:p>
          <a:p>
            <a:pPr>
              <a:defRPr b="1" sz="1300"/>
            </a:pPr>
            <a:r>
              <a:t>• Busca Tabu: </a:t>
            </a:r>
            <a:r>
              <a:rPr b="0"/>
              <a:t>Atingiu o ótimo em 4 de 9 instâncias (Gap Médio de 1,89%).</a:t>
            </a:r>
          </a:p>
          <a:p>
            <a:pPr>
              <a:defRPr b="1" sz="1300"/>
            </a:pPr>
            <a:r>
              <a:t>• Escalabilidade (100 itens): </a:t>
            </a:r>
            <a:r>
              <a:rPr b="0"/>
              <a:t>O AG manteve o ótimo em N=100 (knapPI_1_100), enquanto a Busca Tabu apresentou gap de 3,61%.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 Eficiência e Trade-off</a:t>
            </a:r>
          </a:p>
          <a:p>
            <a:pPr>
              <a:defRPr b="1" sz="1300"/>
            </a:pPr>
            <a:r>
              <a:t>• Velocidade da Busca Tabu: </a:t>
            </a:r>
            <a:r>
              <a:rPr b="0"/>
              <a:t>Extremamente rápida para instâncias pequenas (milissegundos), mas com tendência a travar em ótimos locais.</a:t>
            </a:r>
          </a:p>
          <a:p>
            <a:pPr>
              <a:defRPr b="1" sz="1300"/>
            </a:pPr>
            <a:r>
              <a:t>• Poder da População no AG: </a:t>
            </a:r>
            <a:r>
              <a:rPr b="0"/>
              <a:t>A diversidade genética aliada ao elitismo impediu a convergência prematura nas instâncias maiores.</a:t>
            </a:r>
          </a:p>
          <a:p>
            <a:pPr>
              <a:defRPr b="1" sz="1300"/>
            </a:pPr>
            <a:r>
              <a:t>• Recomendação Final: </a:t>
            </a:r>
            <a:r>
              <a:rPr b="0"/>
              <a:t>O Algoritmo Genético se mostrou superior em qualidade global de otimização para o Problema da Mochila 0/1.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Obrigado!</a:t>
            </a:r>
          </a:p>
          <a:p>
            <a:pPr algn="ctr">
              <a:defRPr sz="2400">
                <a:solidFill>
                  <a:srgbClr val="0078D7"/>
                </a:solidFill>
              </a:defRPr>
            </a:pPr>
            <a:r>
              <a:t>Perguntas &amp; Discussão</a:t>
            </a:r>
          </a:p>
          <a:p>
            <a:br/>
            <a:pPr algn="ctr">
              <a:defRPr sz="1600">
                <a:solidFill>
                  <a:srgbClr val="C8D7F0"/>
                </a:solidFill>
              </a:defRPr>
            </a:pPr>
            <a:r>
              <a:t>Repositório: github.com/MayconCarpes/Mochila01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