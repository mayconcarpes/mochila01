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Busca Tabu</c:v>
                </c:pt>
              </c:strCache>
            </c:strRef>
          </c:tx>
          <c:spPr>
            <a:solidFill>
              <a:srgbClr val="D97757"/>
            </a:solidFill>
            <a:effectLst/>
          </c:spPr>
          <c:invertIfNegative val="0"/>
          <c:cat>
            <c:strRef>
              <c:f>Sheet1!$A$2:$A$10</c:f>
              <c:strCache>
                <c:ptCount val="9"/>
                <c:pt idx="0">
                  <c:v>P01</c:v>
                </c:pt>
                <c:pt idx="1">
                  <c:v>P02</c:v>
                </c:pt>
                <c:pt idx="2">
                  <c:v>P03</c:v>
                </c:pt>
                <c:pt idx="3">
                  <c:v>P04</c:v>
                </c:pt>
                <c:pt idx="4">
                  <c:v>P05</c:v>
                </c:pt>
                <c:pt idx="5">
                  <c:v>P06</c:v>
                </c:pt>
                <c:pt idx="6">
                  <c:v>P07</c:v>
                </c:pt>
                <c:pt idx="7">
                  <c:v>P08</c:v>
                </c:pt>
                <c:pt idx="8">
                  <c:v>knapPI_1_100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3.74</c:v>
                </c:pt>
                <c:pt idx="4">
                  <c:v>1</c:v>
                </c:pt>
                <c:pt idx="5">
                  <c:v>0</c:v>
                </c:pt>
                <c:pt idx="6">
                  <c:v>3.98</c:v>
                </c:pt>
                <c:pt idx="7">
                  <c:v>7.84</c:v>
                </c:pt>
                <c:pt idx="8">
                  <c:v>5.12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A-4414-8BD7-946677FE04D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Algoritmo Genético</c:v>
                </c:pt>
              </c:strCache>
            </c:strRef>
          </c:tx>
          <c:spPr>
            <a:solidFill>
              <a:srgbClr val="4CAF7D"/>
            </a:solidFill>
            <a:effectLst/>
          </c:spPr>
          <c:invertIfNegative val="0"/>
          <c:cat>
            <c:strRef>
              <c:f>Sheet1!$A$2:$A$10</c:f>
              <c:strCache>
                <c:ptCount val="9"/>
                <c:pt idx="0">
                  <c:v>P01</c:v>
                </c:pt>
                <c:pt idx="1">
                  <c:v>P02</c:v>
                </c:pt>
                <c:pt idx="2">
                  <c:v>P03</c:v>
                </c:pt>
                <c:pt idx="3">
                  <c:v>P04</c:v>
                </c:pt>
                <c:pt idx="4">
                  <c:v>P05</c:v>
                </c:pt>
                <c:pt idx="5">
                  <c:v>P06</c:v>
                </c:pt>
                <c:pt idx="6">
                  <c:v>P07</c:v>
                </c:pt>
                <c:pt idx="7">
                  <c:v>P08</c:v>
                </c:pt>
                <c:pt idx="8">
                  <c:v>knapPI_1_100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53A-4414-8BD7-946677FE04D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9415C"/>
                </a:solidFill>
                <a:latin typeface="Arial"/>
              </a:defRPr>
            </a:pPr>
            <a:endParaRPr lang="pt-B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6E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39415C"/>
                    </a:solidFill>
                    <a:latin typeface="Arial"/>
                  </a:defRPr>
                </a:pPr>
                <a:r>
                  <a:rPr lang="pt-BR" sz="1000" b="0" i="0" u="none" strike="noStrike">
                    <a:solidFill>
                      <a:srgbClr val="39415C"/>
                    </a:solidFill>
                    <a:latin typeface="Arial"/>
                  </a:rPr>
                  <a:t>Gap (%)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9415C"/>
                </a:solidFill>
                <a:latin typeface="Arial"/>
              </a:defRPr>
            </a:pPr>
            <a:endParaRPr lang="pt-BR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9415C"/>
              </a:solidFill>
            </a:defRPr>
          </a:pPr>
          <a:endParaRPr lang="pt-BR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018234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7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5.png"/><Relationship Id="rId10" Type="http://schemas.openxmlformats.org/officeDocument/2006/relationships/image" Target="../media/image16.png"/><Relationship Id="rId4" Type="http://schemas.openxmlformats.org/officeDocument/2006/relationships/image" Target="../media/image18.png"/><Relationship Id="rId9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1.xml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17.png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463040"/>
            <a:ext cx="5029200" cy="5029200"/>
          </a:xfrm>
          <a:prstGeom prst="ellipse">
            <a:avLst/>
          </a:prstGeom>
          <a:solidFill>
            <a:srgbClr val="1E2761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3291840"/>
            <a:ext cx="2926080" cy="2926080"/>
          </a:xfrm>
          <a:prstGeom prst="ellipse">
            <a:avLst/>
          </a:prstGeom>
          <a:solidFill>
            <a:srgbClr val="2C3768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87452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Problema da Mochila 0/1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22960" y="26060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Meta-heurísticas Local e Populacional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822960" y="3429000"/>
            <a:ext cx="237744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611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Tabu  vs  Algoritmo Genético</a:t>
            </a:r>
            <a:endParaRPr lang="en-US" sz="1800" dirty="0"/>
          </a:p>
        </p:txBody>
      </p:sp>
      <p:pic>
        <p:nvPicPr>
          <p:cNvPr id="9" name="Image 0" descr="/home/claude/knapsack_pptx/icons/gradcap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5120640"/>
            <a:ext cx="384048" cy="38404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25880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Maycon Luís Franco Carpes</a:t>
            </a:r>
            <a:b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Cauã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Fortes Vieira
</a:t>
            </a:r>
            <a:r>
              <a:rPr lang="en-US" sz="130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de Informação — IFSULDEMINAS, Campus Machado
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FUNDAMENTAÇÃO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720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Problema da Mochila 0/1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500" dirty="0">
                <a:solidFill>
                  <a:srgbClr val="39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um conjunto de N itens, cada um com peso </a:t>
            </a:r>
            <a:r>
              <a:rPr lang="en-US" sz="1500" b="1" i="1" dirty="0">
                <a:solidFill>
                  <a:srgbClr val="39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wᵢ</a:t>
            </a:r>
            <a:r>
              <a:rPr lang="en-US" sz="1500" dirty="0">
                <a:solidFill>
                  <a:srgbClr val="39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lucro </a:t>
            </a:r>
            <a:r>
              <a:rPr lang="en-US" sz="1500" b="1" i="1" dirty="0">
                <a:solidFill>
                  <a:srgbClr val="39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pᵢ</a:t>
            </a:r>
            <a:r>
              <a:rPr lang="en-US" sz="1500" dirty="0">
                <a:solidFill>
                  <a:srgbClr val="39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e uma mochila com capacidade </a:t>
            </a:r>
            <a:r>
              <a:rPr lang="en-US" sz="1500" b="1" i="1" dirty="0">
                <a:solidFill>
                  <a:srgbClr val="39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r>
              <a:rPr lang="en-US" sz="1500" dirty="0">
                <a:solidFill>
                  <a:srgbClr val="39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 objetivo é selecionar o subconjunto de itens que </a:t>
            </a: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maximize o lucro total</a:t>
            </a:r>
            <a:r>
              <a:rPr lang="en-US" sz="1500" dirty="0">
                <a:solidFill>
                  <a:srgbClr val="39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sem exceder a capacidade da mochila. Cada item é indivisível — incluído (1) ou não (0).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520440"/>
            <a:ext cx="6035040" cy="1417320"/>
          </a:xfrm>
          <a:prstGeom prst="roundRect">
            <a:avLst>
              <a:gd name="adj" fmla="val 5161"/>
            </a:avLst>
          </a:prstGeom>
          <a:solidFill>
            <a:srgbClr val="F0F3FA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374904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720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maximizar   </a:t>
            </a:r>
            <a:r>
              <a:rPr lang="en-US" sz="15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 pᵢxᵢ</a:t>
            </a:r>
            <a:r>
              <a:rPr lang="en-US" sz="1500" b="1" dirty="0">
                <a:solidFill>
                  <a:srgbClr val="1720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     sujeito a   </a:t>
            </a:r>
            <a:r>
              <a:rPr lang="en-US" sz="15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 wᵢxᵢ ≤ C,   xᵢ ∈ {0,1}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4343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Formulação matemática do problema de otimização combinatória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5166360"/>
            <a:ext cx="329184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pic>
        <p:nvPicPr>
          <p:cNvPr id="9" name="Image 0" descr="/home/claude/knapsack_pptx/icons/flask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5367528"/>
            <a:ext cx="384048" cy="38404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234440" y="5193792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NP-Difícil
</a:t>
            </a: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Espaço de busca cresce exponencialmente (2ᴺ)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7680960" y="2103120"/>
            <a:ext cx="3291840" cy="3291840"/>
          </a:xfrm>
          <a:prstGeom prst="roundRect">
            <a:avLst>
              <a:gd name="adj" fmla="val 9722"/>
            </a:avLst>
          </a:prstGeom>
          <a:solidFill>
            <a:srgbClr val="1E2761"/>
          </a:solidFill>
          <a:ln w="19050">
            <a:solidFill>
              <a:srgbClr val="17203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183880" y="1554480"/>
            <a:ext cx="2286000" cy="1005840"/>
          </a:xfrm>
          <a:prstGeom prst="roundRect">
            <a:avLst>
              <a:gd name="adj" fmla="val 22727"/>
            </a:avLst>
          </a:prstGeom>
          <a:solidFill>
            <a:srgbClr val="2C3768"/>
          </a:solidFill>
          <a:ln w="19050">
            <a:solidFill>
              <a:srgbClr val="17203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229600" y="3931920"/>
            <a:ext cx="2194560" cy="1188720"/>
          </a:xfrm>
          <a:prstGeom prst="roundRect">
            <a:avLst>
              <a:gd name="adj" fmla="val 15385"/>
            </a:avLst>
          </a:prstGeom>
          <a:solidFill>
            <a:srgbClr val="2C3768"/>
          </a:solidFill>
          <a:ln/>
        </p:spPr>
      </p:sp>
      <p:sp>
        <p:nvSpPr>
          <p:cNvPr id="14" name="Shape 11"/>
          <p:cNvSpPr/>
          <p:nvPr/>
        </p:nvSpPr>
        <p:spPr>
          <a:xfrm>
            <a:off x="7818120" y="1874520"/>
            <a:ext cx="320040" cy="1463040"/>
          </a:xfrm>
          <a:prstGeom prst="roundRect">
            <a:avLst>
              <a:gd name="adj" fmla="val 42857"/>
            </a:avLst>
          </a:prstGeom>
          <a:solidFill>
            <a:srgbClr val="17203E"/>
          </a:solidFill>
          <a:ln/>
        </p:spPr>
      </p:sp>
      <p:sp>
        <p:nvSpPr>
          <p:cNvPr id="15" name="Shape 12"/>
          <p:cNvSpPr/>
          <p:nvPr/>
        </p:nvSpPr>
        <p:spPr>
          <a:xfrm>
            <a:off x="10515600" y="1874520"/>
            <a:ext cx="320040" cy="1463040"/>
          </a:xfrm>
          <a:prstGeom prst="roundRect">
            <a:avLst>
              <a:gd name="adj" fmla="val 42857"/>
            </a:avLst>
          </a:prstGeom>
          <a:solidFill>
            <a:srgbClr val="17203E"/>
          </a:solidFill>
          <a:ln/>
        </p:spPr>
      </p:sp>
      <p:pic>
        <p:nvPicPr>
          <p:cNvPr id="16" name="Image 1" descr="/home/claude/knapsack_pptx/icons/weight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0" y="4343400"/>
            <a:ext cx="384048" cy="384048"/>
          </a:xfrm>
          <a:prstGeom prst="rect">
            <a:avLst/>
          </a:prstGeom>
        </p:spPr>
      </p:pic>
      <p:pic>
        <p:nvPicPr>
          <p:cNvPr id="17" name="Image 2" descr="/home/claude/knapsack_pptx/icons/coins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8040" y="2468880"/>
            <a:ext cx="502920" cy="502920"/>
          </a:xfrm>
          <a:prstGeom prst="rect">
            <a:avLst/>
          </a:prstGeom>
        </p:spPr>
      </p:pic>
      <p:pic>
        <p:nvPicPr>
          <p:cNvPr id="18" name="Image 3" descr="/home/claude/knapsack_pptx/icons/coins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0" y="3291840"/>
            <a:ext cx="384048" cy="384048"/>
          </a:xfrm>
          <a:prstGeom prst="rect">
            <a:avLst/>
          </a:prstGeom>
        </p:spPr>
      </p:pic>
      <p:pic>
        <p:nvPicPr>
          <p:cNvPr id="19" name="Image 4" descr="/home/claude/knapsack_pptx/icons/weight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0" y="3931920"/>
            <a:ext cx="365760" cy="3657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6858000" y="56235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7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itens: peso × lucro  →  seleção ótima</a:t>
            </a:r>
            <a:endParaRPr lang="en-US" sz="1100" dirty="0"/>
          </a:p>
        </p:txBody>
      </p:sp>
      <p:sp>
        <p:nvSpPr>
          <p:cNvPr id="21" name="Text 1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Instâncias de Teste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instâncias benchmark, de 5 a 100 itens, cobrindo diferentes escalas de complexidade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64240" cy="420624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Instância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Nº Itens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Capacidade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Ótimo Conhecido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Fonte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CADCFC"/>
                          </a:solidFill>
                        </a:rPr>
                        <a:t>P01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10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165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309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Burkardt (FSU)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CADCFC"/>
                          </a:solidFill>
                        </a:rPr>
                        <a:t>P02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5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26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51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Burkardt (FSU)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CADCFC"/>
                          </a:solidFill>
                        </a:rPr>
                        <a:t>P03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6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190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150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Burkardt (FSU)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CADCFC"/>
                          </a:solidFill>
                        </a:rPr>
                        <a:t>P04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7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50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107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Burkardt (FSU)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CADCFC"/>
                          </a:solidFill>
                        </a:rPr>
                        <a:t>P05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8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104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900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Burkardt (FSU)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CADCFC"/>
                          </a:solidFill>
                        </a:rPr>
                        <a:t>P06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7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170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1.735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Burkardt (FSU)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CADCFC"/>
                          </a:solidFill>
                        </a:rPr>
                        <a:t>P07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15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750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1.458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Burkardt (FSU)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CADCFC"/>
                          </a:solidFill>
                        </a:rPr>
                        <a:t>P08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24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6.404.180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13.549.094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CADCFC"/>
                          </a:solidFill>
                        </a:rPr>
                        <a:t>Burkardt (FSU)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D4AF37"/>
                          </a:solidFill>
                        </a:rPr>
                        <a:t>knapPI_1_100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D4AF37"/>
                          </a:solidFill>
                        </a:rPr>
                        <a:t>100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D4AF37"/>
                          </a:solidFill>
                        </a:rPr>
                        <a:t>995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D4AF37"/>
                          </a:solidFill>
                        </a:rPr>
                        <a:t>9.147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D4AF37"/>
                          </a:solidFill>
                        </a:rPr>
                        <a:t>Pisinger / GitHub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2636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A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P01–P08: Burkardt (Florida State University)   ·   knapPI_1_100: Pisinger (100 itens, alta complexidade combinatória)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1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ENGENHARIA DE SOFTWARE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Arquitetura do Projeto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modular em Python, orientada a princípios de Clean Code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2574036" cy="1417320"/>
          </a:xfrm>
          <a:prstGeom prst="roundRect">
            <a:avLst>
              <a:gd name="adj" fmla="val 5161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pic>
        <p:nvPicPr>
          <p:cNvPr id="6" name="Image 0" descr="/home/claude/knapsack_pptx/icons/folder_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214884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34440" y="2093976"/>
            <a:ext cx="17510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models/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2532888"/>
            <a:ext cx="20711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KnapsackInstance</a:t>
            </a:r>
            <a:endParaRPr lang="en-US" sz="10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ExecutionResult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378708" y="1965960"/>
            <a:ext cx="2574036" cy="1417320"/>
          </a:xfrm>
          <a:prstGeom prst="roundRect">
            <a:avLst>
              <a:gd name="adj" fmla="val 5161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pic>
        <p:nvPicPr>
          <p:cNvPr id="10" name="Image 1" descr="/home/claude/knapsack_pptx/icons/cogs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9876" y="214884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064508" y="2093976"/>
            <a:ext cx="17510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algorithms/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3653028" y="2532888"/>
            <a:ext cx="20711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BaseAlgorithm (abstrata)</a:t>
            </a:r>
            <a:endParaRPr lang="en-US" sz="10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TabuSearch</a:t>
            </a:r>
            <a:endParaRPr lang="en-US" sz="10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GeneticAlgorithm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6208776" y="1965960"/>
            <a:ext cx="2574036" cy="1417320"/>
          </a:xfrm>
          <a:prstGeom prst="roundRect">
            <a:avLst>
              <a:gd name="adj" fmla="val 5161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pic>
        <p:nvPicPr>
          <p:cNvPr id="14" name="Image 2" descr="/home/claude/knapsack_pptx/icons/code_i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9944" y="2148840"/>
            <a:ext cx="365760" cy="3657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894576" y="2093976"/>
            <a:ext cx="17510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utils/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6483096" y="2532888"/>
            <a:ext cx="20711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 (factibilidade)</a:t>
            </a:r>
            <a:endParaRPr lang="en-US" sz="10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greedy (construção)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9038844" y="1965960"/>
            <a:ext cx="2574036" cy="1417320"/>
          </a:xfrm>
          <a:prstGeom prst="roundRect">
            <a:avLst>
              <a:gd name="adj" fmla="val 5161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pic>
        <p:nvPicPr>
          <p:cNvPr id="18" name="Image 3" descr="/home/claude/knapsack_pptx/icons/chartbar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40012" y="2148840"/>
            <a:ext cx="365760" cy="36576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724644" y="2093976"/>
            <a:ext cx="17510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runners/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9313164" y="2532888"/>
            <a:ext cx="20711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ExperimentRunner</a:t>
            </a:r>
            <a:endParaRPr lang="en-US" sz="10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ReportGenerator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4793742" y="3703320"/>
            <a:ext cx="2574036" cy="960120"/>
          </a:xfrm>
          <a:prstGeom prst="roundRect">
            <a:avLst>
              <a:gd name="adj" fmla="val 7619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pic>
        <p:nvPicPr>
          <p:cNvPr id="22" name="Image 4" descr="/home/claude/knapsack_pptx/icons/filecode_ic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94910" y="3886200"/>
            <a:ext cx="365760" cy="36576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479542" y="3831336"/>
            <a:ext cx="17510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data/</a:t>
            </a:r>
            <a:endParaRPr lang="en-US" sz="1400" dirty="0"/>
          </a:p>
        </p:txBody>
      </p:sp>
      <p:sp>
        <p:nvSpPr>
          <p:cNvPr id="24" name="Text 17"/>
          <p:cNvSpPr/>
          <p:nvPr/>
        </p:nvSpPr>
        <p:spPr>
          <a:xfrm>
            <a:off x="5068062" y="4270248"/>
            <a:ext cx="20711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instâncias benchmark (.txt / .csv)</a:t>
            </a:r>
            <a:endParaRPr lang="en-US" sz="1050" dirty="0"/>
          </a:p>
        </p:txBody>
      </p:sp>
      <p:sp>
        <p:nvSpPr>
          <p:cNvPr id="25" name="Shape 18"/>
          <p:cNvSpPr/>
          <p:nvPr/>
        </p:nvSpPr>
        <p:spPr>
          <a:xfrm>
            <a:off x="548640" y="498348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1E2761"/>
          </a:solidFill>
          <a:ln/>
        </p:spPr>
      </p:sp>
      <p:pic>
        <p:nvPicPr>
          <p:cNvPr id="26" name="Image 5" descr="/home/claude/knapsack_pptx/icons/sitemap_gol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960" y="5276088"/>
            <a:ext cx="457200" cy="45720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463040" y="4983480"/>
            <a:ext cx="9966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Princípios de projeto:  </a:t>
            </a: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Single Responsibility Principle ·  Polimorfismo via </a:t>
            </a:r>
            <a:r>
              <a:rPr lang="en-US" sz="125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</a:t>
            </a: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abstrata</a:t>
            </a: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BaseAlgorithm · permitindo adicionar novas meta-heurísticas sem alterar o núcleo do sistema.</a:t>
            </a:r>
            <a:endParaRPr lang="en-US" sz="1250" dirty="0"/>
          </a:p>
        </p:txBody>
      </p:sp>
      <p:sp>
        <p:nvSpPr>
          <p:cNvPr id="28" name="Text 20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META-HEURÍSTICA LOCAL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Busca Tabu — Conceito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000"/>
              </a:lnSpc>
              <a:buNone/>
            </a:pPr>
            <a:r>
              <a:rPr lang="en-US" sz="14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Meta-heurística de </a:t>
            </a:r>
            <a:r>
              <a:rPr lang="en-US" sz="14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local com memória de curto prazo</a:t>
            </a:r>
            <a:r>
              <a:rPr lang="en-US" sz="14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Explora vizinhanças da solução atual, evitando revisitar movimentos recentes por meio de uma </a:t>
            </a:r>
            <a:r>
              <a:rPr lang="en-US" sz="145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FIFO tabu</a:t>
            </a:r>
            <a:r>
              <a:rPr lang="en-US" sz="14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7484" y="2468880"/>
            <a:ext cx="1874520" cy="1737360"/>
          </a:xfrm>
          <a:prstGeom prst="roundRect">
            <a:avLst>
              <a:gd name="adj" fmla="val 4211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42136" y="2670048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7" name="Image 0" descr="/home/claude/knapsack_pptx/icons/random_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008" y="2788920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88924" y="336499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 Inicial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988924" y="37947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(Heurística Gulosa)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2772004" y="297180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3028036" y="2468880"/>
            <a:ext cx="1874520" cy="1737360"/>
          </a:xfrm>
          <a:prstGeom prst="roundRect">
            <a:avLst>
              <a:gd name="adj" fmla="val 4211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672688" y="2670048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3" name="Image 1" descr="/home/claude/knapsack_pptx/icons/search_i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1560" y="278892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119476" y="336499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Explorar Vizinhança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3119476" y="37947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(flip de 1 bit)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4902556" y="297180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5158588" y="2468880"/>
            <a:ext cx="1874520" cy="1737360"/>
          </a:xfrm>
          <a:prstGeom prst="roundRect">
            <a:avLst>
              <a:gd name="adj" fmla="val 4211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803240" y="2670048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9" name="Image 2" descr="/home/claude/knapsack_pptx/icons/xmark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2112" y="2788920"/>
            <a:ext cx="347472" cy="34747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250028" y="336499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 Lista Tabu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5250028" y="37947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bloqueia repetições</a:t>
            </a:r>
            <a:endParaRPr lang="en-US" sz="950" dirty="0"/>
          </a:p>
        </p:txBody>
      </p:sp>
      <p:sp>
        <p:nvSpPr>
          <p:cNvPr id="22" name="Text 17"/>
          <p:cNvSpPr/>
          <p:nvPr/>
        </p:nvSpPr>
        <p:spPr>
          <a:xfrm>
            <a:off x="7033108" y="297180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18"/>
          <p:cNvSpPr/>
          <p:nvPr/>
        </p:nvSpPr>
        <p:spPr>
          <a:xfrm>
            <a:off x="7289140" y="2468880"/>
            <a:ext cx="1874520" cy="1737360"/>
          </a:xfrm>
          <a:prstGeom prst="roundRect">
            <a:avLst>
              <a:gd name="adj" fmla="val 4211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7933792" y="2670048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5" name="Image 3" descr="/home/claude/knapsack_pptx/icons/check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52664" y="2788920"/>
            <a:ext cx="347472" cy="34747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380580" y="336499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de Aspiração</a:t>
            </a:r>
            <a:endParaRPr lang="en-US" sz="1150" dirty="0"/>
          </a:p>
        </p:txBody>
      </p:sp>
      <p:sp>
        <p:nvSpPr>
          <p:cNvPr id="27" name="Text 21"/>
          <p:cNvSpPr/>
          <p:nvPr/>
        </p:nvSpPr>
        <p:spPr>
          <a:xfrm>
            <a:off x="7380580" y="37947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exceção se melhora o global</a:t>
            </a:r>
            <a:endParaRPr lang="en-US" sz="950" dirty="0"/>
          </a:p>
        </p:txBody>
      </p:sp>
      <p:sp>
        <p:nvSpPr>
          <p:cNvPr id="28" name="Text 22"/>
          <p:cNvSpPr/>
          <p:nvPr/>
        </p:nvSpPr>
        <p:spPr>
          <a:xfrm>
            <a:off x="9163660" y="297180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9" name="Shape 23"/>
          <p:cNvSpPr/>
          <p:nvPr/>
        </p:nvSpPr>
        <p:spPr>
          <a:xfrm>
            <a:off x="9419692" y="2468880"/>
            <a:ext cx="1874520" cy="1737360"/>
          </a:xfrm>
          <a:prstGeom prst="roundRect">
            <a:avLst>
              <a:gd name="adj" fmla="val 4211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10064344" y="2670048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1" name="Image 4" descr="/home/claude/knapsack_pptx/icons/target_ic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83216" y="2788920"/>
            <a:ext cx="347472" cy="347472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9511132" y="336499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Atualizar Melhor</a:t>
            </a:r>
            <a:endParaRPr lang="en-US" sz="1150" dirty="0"/>
          </a:p>
        </p:txBody>
      </p:sp>
      <p:sp>
        <p:nvSpPr>
          <p:cNvPr id="33" name="Text 26"/>
          <p:cNvSpPr/>
          <p:nvPr/>
        </p:nvSpPr>
        <p:spPr>
          <a:xfrm>
            <a:off x="9511132" y="37947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repetir</a:t>
            </a:r>
            <a:endParaRPr lang="en-US" sz="950" dirty="0"/>
          </a:p>
        </p:txBody>
      </p:sp>
      <p:sp>
        <p:nvSpPr>
          <p:cNvPr id="34" name="Text 27"/>
          <p:cNvSpPr/>
          <p:nvPr/>
        </p:nvSpPr>
        <p:spPr>
          <a:xfrm>
            <a:off x="897484" y="4434840"/>
            <a:ext cx="10396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5A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↺  processo iterativo até o critério de parada (nº máximo de iterações)</a:t>
            </a:r>
            <a:endParaRPr lang="en-US" sz="1150" dirty="0"/>
          </a:p>
        </p:txBody>
      </p:sp>
      <p:sp>
        <p:nvSpPr>
          <p:cNvPr id="35" name="Shape 28"/>
          <p:cNvSpPr/>
          <p:nvPr/>
        </p:nvSpPr>
        <p:spPr>
          <a:xfrm>
            <a:off x="548640" y="525780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1E2761"/>
          </a:solidFill>
          <a:ln/>
        </p:spPr>
      </p:sp>
      <p:pic>
        <p:nvPicPr>
          <p:cNvPr id="36" name="Image 5" descr="/home/claude/knapsack_pptx/icons/brain_gol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960" y="5486400"/>
            <a:ext cx="457200" cy="457200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1463040" y="525780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Tabu FIFO: </a:t>
            </a: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 os últimos movimentos realizados e os proíbe temporariamente, evitando ciclos e forçando a exploração de novas regiões do espaço de busca.</a:t>
            </a:r>
            <a:endParaRPr lang="en-US" sz="1250" dirty="0"/>
          </a:p>
        </p:txBody>
      </p:sp>
      <p:sp>
        <p:nvSpPr>
          <p:cNvPr id="38" name="Text 30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1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CONFIGURAÇÃO EXPERIMENTAL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Busca Tabu — Parâmetros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4244911"/>
              </p:ext>
            </p:extLst>
          </p:nvPr>
        </p:nvGraphicFramePr>
        <p:xfrm>
          <a:off x="2765628" y="1611383"/>
          <a:ext cx="6335239" cy="1463040"/>
        </p:xfrm>
        <a:graphic>
          <a:graphicData uri="http://schemas.openxmlformats.org/drawingml/2006/table">
            <a:tbl>
              <a:tblPr/>
              <a:tblGrid>
                <a:gridCol w="30716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36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Parâmetro</a:t>
                      </a:r>
                      <a:endParaRPr lang="en-US" sz="130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Valores Testados</a:t>
                      </a:r>
                      <a:endParaRPr lang="en-US" sz="130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CADCFC"/>
                          </a:solidFill>
                        </a:rPr>
                        <a:t>Tamanho da Lista Tabu</a:t>
                      </a:r>
                      <a:endParaRPr lang="en-US" sz="140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D4AF37"/>
                          </a:solidFill>
                        </a:rPr>
                        <a:t>5   ·   10   ·   20</a:t>
                      </a:r>
                      <a:endParaRPr lang="en-US" sz="140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CADCFC"/>
                          </a:solidFill>
                        </a:rPr>
                        <a:t>Iterações Máximas</a:t>
                      </a:r>
                      <a:endParaRPr lang="en-US" sz="140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D4AF37"/>
                          </a:solidFill>
                        </a:rPr>
                        <a:t>100   ·   500   ·   1.000</a:t>
                      </a:r>
                      <a:endParaRPr lang="en-US" sz="140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573061" y="3200399"/>
            <a:ext cx="4290779" cy="3152955"/>
          </a:xfrm>
          <a:prstGeom prst="roundRect">
            <a:avLst>
              <a:gd name="adj" fmla="val 2564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pic>
        <p:nvPicPr>
          <p:cNvPr id="4" name="Image 0" descr="/home/claude/knapsack_pptx/icons/cogs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0421" y="3331457"/>
            <a:ext cx="557801" cy="557801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573061" y="3863859"/>
            <a:ext cx="4290779" cy="88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243</a:t>
            </a:r>
            <a:endParaRPr lang="en-US" sz="6200" dirty="0"/>
          </a:p>
        </p:txBody>
      </p:sp>
      <p:sp>
        <p:nvSpPr>
          <p:cNvPr id="9" name="Text 5"/>
          <p:cNvSpPr/>
          <p:nvPr/>
        </p:nvSpPr>
        <p:spPr>
          <a:xfrm>
            <a:off x="3573061" y="4704095"/>
            <a:ext cx="4290779" cy="323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execuções totais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4213141" y="5164635"/>
            <a:ext cx="3089361" cy="0"/>
          </a:xfrm>
          <a:prstGeom prst="line">
            <a:avLst/>
          </a:prstGeom>
          <a:noFill/>
          <a:ln w="12700">
            <a:solidFill>
              <a:srgbClr val="2A356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3573061" y="5397149"/>
            <a:ext cx="4290779" cy="727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</a:t>
            </a:r>
            <a:r>
              <a:rPr lang="en-US" sz="13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combinações  ×  </a:t>
            </a:r>
            <a:r>
              <a:rPr lang="en-US" sz="135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</a:t>
            </a:r>
            <a:r>
              <a:rPr lang="en-US" sz="13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instâncias  ×  </a:t>
            </a:r>
            <a:r>
              <a:rPr lang="en-US" sz="135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</a:t>
            </a:r>
            <a:r>
              <a:rPr lang="en-US" sz="13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repetições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META-HEURÍSTICA POPULACIONAL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Algoritmo Genético — Conceito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000"/>
              </a:lnSpc>
              <a:buNone/>
            </a:pPr>
            <a:r>
              <a:rPr lang="en-US" sz="14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Meta-heurística </a:t>
            </a:r>
            <a:r>
              <a:rPr lang="en-US" sz="14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populacional</a:t>
            </a:r>
            <a:r>
              <a:rPr lang="en-US" sz="14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inspirada na evolução natural. Mantém uma população de soluções que evolui por seleção, cruzamento e mutação ao longo de gerações.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13436" y="2148840"/>
            <a:ext cx="1481328" cy="1508760"/>
          </a:xfrm>
          <a:prstGeom prst="roundRect">
            <a:avLst>
              <a:gd name="adj" fmla="val 4321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6356" y="229514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7" name="Image 0" descr="/home/claude/knapsack_pptx/icons/layers_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940" y="2395728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8300" y="280720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Inicialização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68300" y="32004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pop. aleatória + gulosa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967332" y="2560320"/>
            <a:ext cx="1874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2127352" y="2148840"/>
            <a:ext cx="1481328" cy="1508760"/>
          </a:xfrm>
          <a:prstGeom prst="roundRect">
            <a:avLst>
              <a:gd name="adj" fmla="val 4321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630272" y="229514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3" name="Image 1" descr="/home/claude/knapsack_pptx/icons/chartline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30856" y="2395728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182216" y="280720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Fitness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2182216" y="32004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lucro total da solução</a:t>
            </a:r>
            <a:endParaRPr lang="en-US" sz="800" dirty="0"/>
          </a:p>
        </p:txBody>
      </p:sp>
      <p:sp>
        <p:nvSpPr>
          <p:cNvPr id="16" name="Text 12"/>
          <p:cNvSpPr/>
          <p:nvPr/>
        </p:nvSpPr>
        <p:spPr>
          <a:xfrm>
            <a:off x="3581248" y="2560320"/>
            <a:ext cx="1874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3741268" y="2148840"/>
            <a:ext cx="1481328" cy="1508760"/>
          </a:xfrm>
          <a:prstGeom prst="roundRect">
            <a:avLst>
              <a:gd name="adj" fmla="val 4321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244188" y="229514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9" name="Image 2" descr="/home/claude/knapsack_pptx/icons/target_i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4772" y="2395728"/>
            <a:ext cx="274320" cy="2743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3796132" y="280720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Seleção por Torneio</a:t>
            </a:r>
            <a:endParaRPr lang="en-US" sz="950" dirty="0"/>
          </a:p>
        </p:txBody>
      </p:sp>
      <p:sp>
        <p:nvSpPr>
          <p:cNvPr id="21" name="Text 16"/>
          <p:cNvSpPr/>
          <p:nvPr/>
        </p:nvSpPr>
        <p:spPr>
          <a:xfrm>
            <a:off x="3796132" y="32004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3</a:t>
            </a:r>
            <a:endParaRPr lang="en-US" sz="800" dirty="0"/>
          </a:p>
        </p:txBody>
      </p:sp>
      <p:sp>
        <p:nvSpPr>
          <p:cNvPr id="22" name="Text 17"/>
          <p:cNvSpPr/>
          <p:nvPr/>
        </p:nvSpPr>
        <p:spPr>
          <a:xfrm>
            <a:off x="5195164" y="2560320"/>
            <a:ext cx="1874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3" name="Shape 18"/>
          <p:cNvSpPr/>
          <p:nvPr/>
        </p:nvSpPr>
        <p:spPr>
          <a:xfrm>
            <a:off x="5355184" y="2148840"/>
            <a:ext cx="1481328" cy="1508760"/>
          </a:xfrm>
          <a:prstGeom prst="roundRect">
            <a:avLst>
              <a:gd name="adj" fmla="val 4321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5858104" y="229514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5" name="Image 3" descr="/home/claude/knapsack_pptx/icons/random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58688" y="2395728"/>
            <a:ext cx="274320" cy="27432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410048" y="280720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Crossover</a:t>
            </a:r>
            <a:endParaRPr lang="en-US" sz="950" dirty="0"/>
          </a:p>
        </p:txBody>
      </p:sp>
      <p:sp>
        <p:nvSpPr>
          <p:cNvPr id="27" name="Text 21"/>
          <p:cNvSpPr/>
          <p:nvPr/>
        </p:nvSpPr>
        <p:spPr>
          <a:xfrm>
            <a:off x="5410048" y="32004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ponto de corte</a:t>
            </a:r>
            <a:endParaRPr lang="en-US" sz="800" dirty="0"/>
          </a:p>
        </p:txBody>
      </p:sp>
      <p:sp>
        <p:nvSpPr>
          <p:cNvPr id="28" name="Text 22"/>
          <p:cNvSpPr/>
          <p:nvPr/>
        </p:nvSpPr>
        <p:spPr>
          <a:xfrm>
            <a:off x="6809080" y="2560320"/>
            <a:ext cx="1874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9" name="Shape 23"/>
          <p:cNvSpPr/>
          <p:nvPr/>
        </p:nvSpPr>
        <p:spPr>
          <a:xfrm>
            <a:off x="6969100" y="2148840"/>
            <a:ext cx="1481328" cy="1508760"/>
          </a:xfrm>
          <a:prstGeom prst="roundRect">
            <a:avLst>
              <a:gd name="adj" fmla="val 4321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7472020" y="229514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1" name="Image 4" descr="/home/claude/knapsack_pptx/icons/dna_ic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72604" y="2395728"/>
            <a:ext cx="274320" cy="274320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7023964" y="280720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Mutação</a:t>
            </a:r>
            <a:endParaRPr lang="en-US" sz="950" dirty="0"/>
          </a:p>
        </p:txBody>
      </p:sp>
      <p:sp>
        <p:nvSpPr>
          <p:cNvPr id="33" name="Text 26"/>
          <p:cNvSpPr/>
          <p:nvPr/>
        </p:nvSpPr>
        <p:spPr>
          <a:xfrm>
            <a:off x="7023964" y="32004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bit-flip</a:t>
            </a:r>
            <a:endParaRPr lang="en-US" sz="800" dirty="0"/>
          </a:p>
        </p:txBody>
      </p:sp>
      <p:sp>
        <p:nvSpPr>
          <p:cNvPr id="34" name="Text 27"/>
          <p:cNvSpPr/>
          <p:nvPr/>
        </p:nvSpPr>
        <p:spPr>
          <a:xfrm>
            <a:off x="8422996" y="2560320"/>
            <a:ext cx="1874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5" name="Shape 28"/>
          <p:cNvSpPr/>
          <p:nvPr/>
        </p:nvSpPr>
        <p:spPr>
          <a:xfrm>
            <a:off x="8583016" y="2148840"/>
            <a:ext cx="1481328" cy="1508760"/>
          </a:xfrm>
          <a:prstGeom prst="roundRect">
            <a:avLst>
              <a:gd name="adj" fmla="val 4321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9085936" y="229514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7" name="Image 5" descr="/home/claude/knapsack_pptx/icons/check_gol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86520" y="2395728"/>
            <a:ext cx="274320" cy="274320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8637880" y="280720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Elitismo</a:t>
            </a:r>
            <a:endParaRPr lang="en-US" sz="950" dirty="0"/>
          </a:p>
        </p:txBody>
      </p:sp>
      <p:sp>
        <p:nvSpPr>
          <p:cNvPr id="39" name="Text 31"/>
          <p:cNvSpPr/>
          <p:nvPr/>
        </p:nvSpPr>
        <p:spPr>
          <a:xfrm>
            <a:off x="8637880" y="32004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preserva os melhores</a:t>
            </a:r>
            <a:endParaRPr lang="en-US" sz="800" dirty="0"/>
          </a:p>
        </p:txBody>
      </p:sp>
      <p:sp>
        <p:nvSpPr>
          <p:cNvPr id="40" name="Text 32"/>
          <p:cNvSpPr/>
          <p:nvPr/>
        </p:nvSpPr>
        <p:spPr>
          <a:xfrm>
            <a:off x="10036912" y="2560320"/>
            <a:ext cx="1874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41" name="Shape 33"/>
          <p:cNvSpPr/>
          <p:nvPr/>
        </p:nvSpPr>
        <p:spPr>
          <a:xfrm>
            <a:off x="10196932" y="2148840"/>
            <a:ext cx="1481328" cy="1508760"/>
          </a:xfrm>
          <a:prstGeom prst="roundRect">
            <a:avLst>
              <a:gd name="adj" fmla="val 4321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sp>
        <p:nvSpPr>
          <p:cNvPr id="42" name="Shape 34"/>
          <p:cNvSpPr/>
          <p:nvPr/>
        </p:nvSpPr>
        <p:spPr>
          <a:xfrm>
            <a:off x="10699852" y="229514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43" name="Image 6" descr="/home/claude/knapsack_pptx/icons/sitemap_ic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800436" y="2395728"/>
            <a:ext cx="274320" cy="274320"/>
          </a:xfrm>
          <a:prstGeom prst="rect">
            <a:avLst/>
          </a:prstGeom>
        </p:spPr>
      </p:pic>
      <p:sp>
        <p:nvSpPr>
          <p:cNvPr id="44" name="Text 35"/>
          <p:cNvSpPr/>
          <p:nvPr/>
        </p:nvSpPr>
        <p:spPr>
          <a:xfrm>
            <a:off x="10251796" y="280720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 Geração</a:t>
            </a:r>
            <a:endParaRPr lang="en-US" sz="950" dirty="0"/>
          </a:p>
        </p:txBody>
      </p:sp>
      <p:sp>
        <p:nvSpPr>
          <p:cNvPr id="45" name="Text 36"/>
          <p:cNvSpPr/>
          <p:nvPr/>
        </p:nvSpPr>
        <p:spPr>
          <a:xfrm>
            <a:off x="10251796" y="32004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repetir</a:t>
            </a:r>
            <a:endParaRPr lang="en-US" sz="800" dirty="0"/>
          </a:p>
        </p:txBody>
      </p:sp>
      <p:sp>
        <p:nvSpPr>
          <p:cNvPr id="46" name="Text 37"/>
          <p:cNvSpPr/>
          <p:nvPr/>
        </p:nvSpPr>
        <p:spPr>
          <a:xfrm>
            <a:off x="513436" y="3840480"/>
            <a:ext cx="11164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A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↺  gerações sucessivas até o critério de parada (nº máximo de gerações)</a:t>
            </a:r>
            <a:endParaRPr lang="en-US" sz="1100" dirty="0"/>
          </a:p>
        </p:txBody>
      </p:sp>
      <p:sp>
        <p:nvSpPr>
          <p:cNvPr id="47" name="Shape 38"/>
          <p:cNvSpPr/>
          <p:nvPr/>
        </p:nvSpPr>
        <p:spPr>
          <a:xfrm>
            <a:off x="548640" y="539496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1E2761"/>
          </a:solidFill>
          <a:ln/>
        </p:spPr>
      </p:sp>
      <p:pic>
        <p:nvPicPr>
          <p:cNvPr id="48" name="Image 7" descr="/home/claude/knapsack_pptx/icons/brain_gol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2960" y="5577840"/>
            <a:ext cx="438912" cy="438912"/>
          </a:xfrm>
          <a:prstGeom prst="rect">
            <a:avLst/>
          </a:prstGeom>
        </p:spPr>
      </p:pic>
      <p:sp>
        <p:nvSpPr>
          <p:cNvPr id="49" name="Text 39"/>
          <p:cNvSpPr/>
          <p:nvPr/>
        </p:nvSpPr>
        <p:spPr>
          <a:xfrm>
            <a:off x="1463040" y="5394960"/>
            <a:ext cx="9966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Reparo de factibilidade: </a:t>
            </a: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soluções que excedem a capacidade são corrigidas removendo iterativamente os itens com menor razão lucro/peso, garantindo indivíduos sempre válidos.</a:t>
            </a:r>
            <a:endParaRPr lang="en-US" sz="1200" dirty="0"/>
          </a:p>
        </p:txBody>
      </p:sp>
      <p:sp>
        <p:nvSpPr>
          <p:cNvPr id="50" name="Text 40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1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CONFIGURAÇÃO EXPERIMENTAL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Algoritmo Genético — Parâmetros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6035040" cy="265176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Parâmetro</a:t>
                      </a:r>
                      <a:endParaRPr lang="en-US" sz="130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Valores Testados</a:t>
                      </a:r>
                      <a:endParaRPr lang="en-US" sz="130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b="1" dirty="0">
                          <a:solidFill>
                            <a:srgbClr val="CADCFC"/>
                          </a:solidFill>
                        </a:rPr>
                        <a:t>Tamanho da População</a:t>
                      </a:r>
                      <a:endParaRPr lang="en-US" sz="135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D4AF37"/>
                          </a:solidFill>
                        </a:rPr>
                        <a:t>50   ·   100</a:t>
                      </a:r>
                      <a:endParaRPr lang="en-US" sz="135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b="1" dirty="0">
                          <a:solidFill>
                            <a:srgbClr val="CADCFC"/>
                          </a:solidFill>
                        </a:rPr>
                        <a:t>Número de Gerações</a:t>
                      </a:r>
                      <a:endParaRPr lang="en-US" sz="135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D4AF37"/>
                          </a:solidFill>
                        </a:rPr>
                        <a:t>100   ·   500   ·   1.000</a:t>
                      </a:r>
                      <a:endParaRPr lang="en-US" sz="135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b="1" dirty="0">
                          <a:solidFill>
                            <a:srgbClr val="CADCFC"/>
                          </a:solidFill>
                        </a:rPr>
                        <a:t>Taxa de Mutação</a:t>
                      </a:r>
                      <a:endParaRPr lang="en-US" sz="135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D4AF37"/>
                          </a:solidFill>
                        </a:rPr>
                        <a:t>0.01   ·   0.05</a:t>
                      </a:r>
                      <a:endParaRPr lang="en-US" sz="135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b="1" dirty="0">
                          <a:solidFill>
                            <a:srgbClr val="CADCFC"/>
                          </a:solidFill>
                        </a:rPr>
                        <a:t>Taxa de Crossover</a:t>
                      </a:r>
                      <a:endParaRPr lang="en-US" sz="135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D4AF37"/>
                          </a:solidFill>
                        </a:rPr>
                        <a:t>0.8  (fixa)</a:t>
                      </a:r>
                      <a:endParaRPr lang="en-US" sz="1350" dirty="0"/>
                    </a:p>
                  </a:txBody>
                  <a:tcPr marL="127000" marR="127000" marT="101600" marB="1016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5720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× 3 × 2 = 12 combinações de parâmetros (crossover fixo)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7040880" y="1737360"/>
            <a:ext cx="4572000" cy="3566160"/>
          </a:xfrm>
          <a:prstGeom prst="roundRect">
            <a:avLst>
              <a:gd name="adj" fmla="val 2564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pic>
        <p:nvPicPr>
          <p:cNvPr id="7" name="Image 0" descr="/home/claude/knapsack_pptx/icons/dna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2011680"/>
            <a:ext cx="594360" cy="5943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040880" y="269748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324</a:t>
            </a:r>
            <a:endParaRPr lang="en-US" sz="6200" dirty="0"/>
          </a:p>
        </p:txBody>
      </p:sp>
      <p:sp>
        <p:nvSpPr>
          <p:cNvPr id="4" name="Text 5"/>
          <p:cNvSpPr/>
          <p:nvPr/>
        </p:nvSpPr>
        <p:spPr>
          <a:xfrm>
            <a:off x="7040880" y="36118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execuções totais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680960" y="4114800"/>
            <a:ext cx="3291840" cy="0"/>
          </a:xfrm>
          <a:prstGeom prst="line">
            <a:avLst/>
          </a:prstGeom>
          <a:noFill/>
          <a:ln w="12700">
            <a:solidFill>
              <a:srgbClr val="2A356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040880" y="42519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</a:t>
            </a:r>
            <a:r>
              <a:rPr lang="en-US" sz="13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combinações  ×  </a:t>
            </a:r>
            <a:r>
              <a:rPr lang="en-US" sz="135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</a:t>
            </a:r>
            <a:r>
              <a:rPr lang="en-US" sz="13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instâncias  ×  </a:t>
            </a:r>
            <a:r>
              <a:rPr lang="en-US" sz="135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</a:t>
            </a:r>
            <a:r>
              <a:rPr lang="en-US" sz="13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repetições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Comparativos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2395407"/>
              </p:ext>
            </p:extLst>
          </p:nvPr>
        </p:nvGraphicFramePr>
        <p:xfrm>
          <a:off x="548640" y="1600200"/>
          <a:ext cx="11064240" cy="4047744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Instância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Ótimo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Melhor</a:t>
                      </a:r>
                      <a:endParaRPr lang="en-US" sz="1150" dirty="0"/>
                    </a:p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Tabu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Gap (%)</a:t>
                      </a:r>
                      <a:endParaRPr lang="en-US" sz="1150" dirty="0"/>
                    </a:p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Tabu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Melhor</a:t>
                      </a:r>
                      <a:endParaRPr lang="en-US" sz="1150" dirty="0"/>
                    </a:p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AG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Gap (%)</a:t>
                      </a:r>
                      <a:endParaRPr lang="en-US" sz="1150" dirty="0"/>
                    </a:p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AG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CADCFC"/>
                          </a:solidFill>
                        </a:rPr>
                        <a:t>P01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309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309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4CAF7D"/>
                          </a:solidFill>
                        </a:rPr>
                        <a:t>0.00%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309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4CAF7D"/>
                          </a:solidFill>
                        </a:rPr>
                        <a:t>0.00%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CADCFC"/>
                          </a:solidFill>
                        </a:rPr>
                        <a:t>P02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51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51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D97757"/>
                          </a:solidFill>
                        </a:rPr>
                        <a:t>7.84%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51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4CAF7D"/>
                          </a:solidFill>
                        </a:rPr>
                        <a:t>0.00%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CADCFC"/>
                          </a:solidFill>
                        </a:rPr>
                        <a:t>P03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150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150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4CAF7D"/>
                          </a:solidFill>
                        </a:rPr>
                        <a:t>0.00%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150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4CAF7D"/>
                          </a:solidFill>
                        </a:rPr>
                        <a:t>0.00%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CADCFC"/>
                          </a:solidFill>
                        </a:rPr>
                        <a:t>P04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107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103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4CAF7D"/>
                          </a:solidFill>
                        </a:rPr>
                        <a:t>0.00%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107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4CAF7D"/>
                          </a:solidFill>
                        </a:rPr>
                        <a:t>0.00%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CADCFC"/>
                          </a:solidFill>
                        </a:rPr>
                        <a:t>P05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900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891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D97757"/>
                          </a:solidFill>
                        </a:rPr>
                        <a:t>4.67%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900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4CAF7D"/>
                          </a:solidFill>
                        </a:rPr>
                        <a:t>0.00%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CADCFC"/>
                          </a:solidFill>
                        </a:rPr>
                        <a:t>P06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1.735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1.735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4CAF7D"/>
                          </a:solidFill>
                        </a:rPr>
                        <a:t>0.00%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1.735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4CAF7D"/>
                          </a:solidFill>
                        </a:rPr>
                        <a:t>0.00%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CADCFC"/>
                          </a:solidFill>
                        </a:rPr>
                        <a:t>P07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1.458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1.400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</a:rPr>
                        <a:t>0.14%</a:t>
                      </a:r>
                      <a:endParaRPr lang="en-US" sz="1150" dirty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1.458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4CAF7D"/>
                          </a:solidFill>
                        </a:rPr>
                        <a:t>0.00%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CADCFC"/>
                          </a:solidFill>
                        </a:rPr>
                        <a:t>P08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13.549.094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12.486.804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</a:rPr>
                        <a:t>0.73%</a:t>
                      </a:r>
                      <a:endParaRPr lang="en-US" sz="1150" dirty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13.549.094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4CAF7D"/>
                          </a:solidFill>
                        </a:rPr>
                        <a:t>0.00%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CADCFC"/>
                          </a:solidFill>
                        </a:rPr>
                        <a:t>knapPI_1_100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9.147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8.817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D97757"/>
                          </a:solidFill>
                        </a:rPr>
                        <a:t>3.61%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CADCFC"/>
                          </a:solidFill>
                        </a:rPr>
                        <a:t>9.147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4CAF7D"/>
                          </a:solidFill>
                        </a:rPr>
                        <a:t>0.00%</a:t>
                      </a:r>
                      <a:endParaRPr lang="en-US" sz="1150" dirty="0"/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5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806440"/>
            <a:ext cx="5394960" cy="685800"/>
          </a:xfrm>
          <a:prstGeom prst="roundRect">
            <a:avLst>
              <a:gd name="adj" fmla="val 10667"/>
            </a:avLst>
          </a:prstGeom>
          <a:solidFill>
            <a:srgbClr val="1E2761"/>
          </a:solidFill>
          <a:ln/>
        </p:spPr>
      </p:sp>
      <p:pic>
        <p:nvPicPr>
          <p:cNvPr id="6" name="Image 0" descr="/home/claude/knapsack_pptx/icons/check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971032"/>
            <a:ext cx="365760" cy="3657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280160" y="58064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AG: </a:t>
            </a: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0% em todas as 9 instâncias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6217920" y="5806440"/>
            <a:ext cx="5394960" cy="685800"/>
          </a:xfrm>
          <a:prstGeom prst="roundRect">
            <a:avLst>
              <a:gd name="adj" fmla="val 10667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pic>
        <p:nvPicPr>
          <p:cNvPr id="9" name="Image 1" descr="/home/claude/knapsack_pptx/icons/xmark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5971032"/>
            <a:ext cx="365760" cy="365760"/>
          </a:xfrm>
          <a:prstGeom prst="rect">
            <a:avLst/>
          </a:prstGeom>
        </p:spPr>
      </p:pic>
      <p:sp>
        <p:nvSpPr>
          <p:cNvPr id="4" name="Text 5"/>
          <p:cNvSpPr/>
          <p:nvPr/>
        </p:nvSpPr>
        <p:spPr>
          <a:xfrm>
            <a:off x="6949440" y="58064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Tabu: </a:t>
            </a: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ótimo </a:t>
            </a:r>
            <a:r>
              <a:rPr lang="en-US" sz="125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</a:t>
            </a: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5/9, gap máximo de 7.84%</a:t>
            </a:r>
            <a:endParaRPr lang="en-US" sz="1250" dirty="0"/>
          </a:p>
        </p:txBody>
      </p:sp>
      <p:sp>
        <p:nvSpPr>
          <p:cNvPr id="11" name="Text 6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20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de Desempenho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029200" cy="1737360"/>
          </a:xfrm>
          <a:prstGeom prst="roundRect">
            <a:avLst>
              <a:gd name="adj" fmla="val 4211"/>
            </a:avLst>
          </a:prstGeom>
          <a:solidFill>
            <a:srgbClr val="F0F3FA"/>
          </a:solidFill>
          <a:ln w="12700">
            <a:solidFill>
              <a:srgbClr val="DCE3F0"/>
            </a:solidFill>
            <a:prstDash val="solid"/>
          </a:ln>
        </p:spPr>
      </p:sp>
      <p:pic>
        <p:nvPicPr>
          <p:cNvPr id="5" name="Image 0" descr="/home/claude/knapsack_pptx/icons/clock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810512"/>
            <a:ext cx="384048" cy="3840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80160" y="17830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2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Tempo de Execução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22960" y="224028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39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 é mais rápido em instâncias pequenas (</a:t>
            </a: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0.001s</a:t>
            </a:r>
            <a:r>
              <a:rPr lang="en-US" sz="1250" dirty="0">
                <a:solidFill>
                  <a:srgbClr val="39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vs </a:t>
            </a: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0.02s</a:t>
            </a:r>
            <a:r>
              <a:rPr lang="en-US" sz="1250" dirty="0">
                <a:solidFill>
                  <a:srgbClr val="39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AG), mas o AG escala melhor à medida que o tamanho da instância cresce.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48640" y="3520440"/>
            <a:ext cx="5029200" cy="1737360"/>
          </a:xfrm>
          <a:prstGeom prst="roundRect">
            <a:avLst>
              <a:gd name="adj" fmla="val 4211"/>
            </a:avLst>
          </a:prstGeom>
          <a:solidFill>
            <a:srgbClr val="F0F3FA"/>
          </a:solidFill>
          <a:ln w="12700">
            <a:solidFill>
              <a:srgbClr val="DCE3F0"/>
            </a:solidFill>
            <a:prstDash val="solid"/>
          </a:ln>
        </p:spPr>
      </p:sp>
      <p:pic>
        <p:nvPicPr>
          <p:cNvPr id="9" name="Image 1" descr="/home/claude/knapsack_pptx/icons/chartline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73075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80160" y="37033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2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Convergência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822960" y="416052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39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 converge rapidamente graças à inicialização gulosa; o AG converge de forma gradual, sustentado pela </a:t>
            </a: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diversidade populacional</a:t>
            </a:r>
            <a:r>
              <a:rPr lang="en-US" sz="1250" dirty="0">
                <a:solidFill>
                  <a:srgbClr val="39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que evita ótimos locais.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5852160" y="160020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72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(%) em relação ao ótimo — Tabu vs AG</a:t>
            </a:r>
            <a:endParaRPr lang="en-US" sz="1250" dirty="0"/>
          </a:p>
        </p:txBody>
      </p:sp>
      <p:graphicFrame>
        <p:nvGraphicFramePr>
          <p:cNvPr id="13" name="Chart 0"/>
          <p:cNvGraphicFramePr/>
          <p:nvPr/>
        </p:nvGraphicFramePr>
        <p:xfrm>
          <a:off x="5852160" y="1965960"/>
          <a:ext cx="576072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4" name="Text 9"/>
          <p:cNvSpPr/>
          <p:nvPr/>
        </p:nvSpPr>
        <p:spPr>
          <a:xfrm>
            <a:off x="5852160" y="534924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 mantém gap 0% em todas as instâncias; Tabu apresenta gaps crescentes com a complexidade.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Conclusão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924812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/home/claude/knapsack_pptx/icons/check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2043684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37944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 encontrou o ótimo em 100% das instâncias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1691640" y="224028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Robustez consistente independente da escala do problema.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2944368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3177540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1" descr="/home/claude/knapsack_pptx/icons/clock_i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" y="3296412"/>
            <a:ext cx="292608" cy="2926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91640" y="3090672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 é mais rápido, mas pode ficar preso em ótimos locais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1691640" y="3493008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 opção quando o tempo de execução é crítico e a instância é pequena.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4197096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22960" y="4430268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6" name="Image 2" descr="/home/claude/knapsack_pptx/icons/layers_i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264" y="4549140"/>
            <a:ext cx="292608" cy="2926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91640" y="434340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 tem overhead de população, mas maior diversidade de busca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1691640" y="4745736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custo computacional adicional é compensado pela qualidade da solução.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548640" y="5449824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22960" y="5682996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1" name="Image 3" descr="/home/claude/knapsack_pptx/icons/target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9264" y="5801868"/>
            <a:ext cx="292608" cy="29260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691640" y="5596128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Ambas eficazes em instâncias pequenas/médias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1691640" y="5998464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 se mostra superior em instâncias maiores, como a de 100 itens.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1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3840480"/>
            <a:ext cx="5029200" cy="5029200"/>
          </a:xfrm>
          <a:prstGeom prst="ellipse">
            <a:avLst/>
          </a:prstGeom>
          <a:solidFill>
            <a:srgbClr val="1E2761">
              <a:alpha val="4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8229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Espaço para perguntas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2148840"/>
            <a:ext cx="237744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423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 E FONTES</a:t>
            </a:r>
            <a:endParaRPr lang="en-US" sz="1200" dirty="0"/>
          </a:p>
        </p:txBody>
      </p:sp>
      <p:pic>
        <p:nvPicPr>
          <p:cNvPr id="7" name="Image 0" descr="/home/claude/knapsack_pptx/icons/table_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880360"/>
            <a:ext cx="310896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80160" y="283464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das instâncias
</a:t>
            </a:r>
            <a:r>
              <a:rPr lang="en-US" sz="120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Burkardt (Florida State University) e Pisinger / GitHub</a:t>
            </a:r>
            <a:endParaRPr lang="en-US" sz="1250" dirty="0"/>
          </a:p>
        </p:txBody>
      </p:sp>
      <p:pic>
        <p:nvPicPr>
          <p:cNvPr id="9" name="Image 1" descr="/home/claude/knapsack_pptx/icons/code_i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538728"/>
            <a:ext cx="310896" cy="31089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80160" y="3493008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Linguagem de implementação
</a:t>
            </a:r>
            <a:r>
              <a:rPr lang="en-US" sz="120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en-US" sz="1250" dirty="0"/>
          </a:p>
        </p:txBody>
      </p:sp>
      <p:pic>
        <p:nvPicPr>
          <p:cNvPr id="11" name="Image 2" descr="/home/claude/knapsack_pptx/icons/filecode_i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197096"/>
            <a:ext cx="310896" cy="31089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80160" y="4151376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Saídas geradas
</a:t>
            </a:r>
            <a:r>
              <a:rPr lang="en-US" sz="120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resultados.csv  e  relatório.docx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7589520" y="4480560"/>
            <a:ext cx="4023360" cy="1737360"/>
          </a:xfrm>
          <a:prstGeom prst="roundRect">
            <a:avLst>
              <a:gd name="adj" fmla="val 5263"/>
            </a:avLst>
          </a:prstGeom>
          <a:solidFill>
            <a:srgbClr val="161D38"/>
          </a:solidFill>
          <a:ln w="12700">
            <a:solidFill>
              <a:srgbClr val="2A3560"/>
            </a:solidFill>
            <a:prstDash val="solid"/>
          </a:ln>
        </p:spPr>
      </p:sp>
      <p:pic>
        <p:nvPicPr>
          <p:cNvPr id="14" name="Image 3" descr="/home/claude/knapsack_pptx/icons/gradcap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3840" y="4709160"/>
            <a:ext cx="411480" cy="41148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8412480" y="466344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Maycon
</a:t>
            </a:r>
            <a:r>
              <a:rPr lang="en-US" sz="1150" dirty="0">
                <a:solidFill>
                  <a:srgbClr val="9B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de Informação
IFSULDEMINAS — Campus Machado</a:t>
            </a:r>
            <a:endParaRPr lang="en-US" sz="1500" dirty="0"/>
          </a:p>
        </p:txBody>
      </p:sp>
      <p:sp>
        <p:nvSpPr>
          <p:cNvPr id="16" name="Text 10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430</TotalTime>
  <Words>1024</Words>
  <Application>Microsoft Office PowerPoint</Application>
  <PresentationFormat>Widescreen</PresentationFormat>
  <Paragraphs>273</Paragraphs>
  <Slides>12</Slides>
  <Notes>12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Cambria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maycon Carpes</cp:lastModifiedBy>
  <cp:revision>4</cp:revision>
  <dcterms:created xsi:type="dcterms:W3CDTF">2026-08-30T21:54:14Z</dcterms:created>
  <dcterms:modified xsi:type="dcterms:W3CDTF">2026-08-31T23:03:24Z</dcterms:modified>
</cp:coreProperties>
</file>