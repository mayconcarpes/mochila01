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77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Busca Tabu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P01</c:v>
                </c:pt>
                <c:pt idx="1">
                  <c:v>P02</c:v>
                </c:pt>
                <c:pt idx="2">
                  <c:v>P03</c:v>
                </c:pt>
                <c:pt idx="3">
                  <c:v>P04</c:v>
                </c:pt>
                <c:pt idx="4">
                  <c:v>P05</c:v>
                </c:pt>
                <c:pt idx="5">
                  <c:v>P06</c:v>
                </c:pt>
                <c:pt idx="6">
                  <c:v>P07</c:v>
                </c:pt>
                <c:pt idx="7">
                  <c:v>P08</c:v>
                </c:pt>
                <c:pt idx="8">
                  <c:v>knapPI_1_100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3.74</c:v>
                </c:pt>
                <c:pt idx="4">
                  <c:v>1</c:v>
                </c:pt>
                <c:pt idx="5">
                  <c:v>0</c:v>
                </c:pt>
                <c:pt idx="6">
                  <c:v>3.98</c:v>
                </c:pt>
                <c:pt idx="7">
                  <c:v>7.84</c:v>
                </c:pt>
                <c:pt idx="8">
                  <c:v>5.12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994-48CE-B878-39CA6E119D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Algoritmo Genético</c:v>
                </c:pt>
              </c:strCache>
            </c:strRef>
          </c:tx>
          <c:spPr>
            <a:solidFill>
              <a:srgbClr val="4CAF7D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P01</c:v>
                </c:pt>
                <c:pt idx="1">
                  <c:v>P02</c:v>
                </c:pt>
                <c:pt idx="2">
                  <c:v>P03</c:v>
                </c:pt>
                <c:pt idx="3">
                  <c:v>P04</c:v>
                </c:pt>
                <c:pt idx="4">
                  <c:v>P05</c:v>
                </c:pt>
                <c:pt idx="5">
                  <c:v>P06</c:v>
                </c:pt>
                <c:pt idx="6">
                  <c:v>P07</c:v>
                </c:pt>
                <c:pt idx="7">
                  <c:v>P08</c:v>
                </c:pt>
                <c:pt idx="8">
                  <c:v>knapPI_1_100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994-48CE-B878-39CA6E119D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9415C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6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39415C"/>
                    </a:solidFill>
                    <a:latin typeface="Arial"/>
                  </a:defRPr>
                </a:pPr>
                <a:r>
                  <a:rPr lang="pt-BR" sz="1000" b="0" i="0" u="none" strike="noStrike">
                    <a:solidFill>
                      <a:srgbClr val="39415C"/>
                    </a:solidFill>
                    <a:latin typeface="Arial"/>
                  </a:rPr>
                  <a:t>Gap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9415C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9415C"/>
              </a:solidFill>
            </a:defRPr>
          </a:pPr>
          <a:endParaRPr lang="pt-B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768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10" Type="http://schemas.openxmlformats.org/officeDocument/2006/relationships/image" Target="../media/image16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7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029200" cy="50292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2926080" cy="2926080"/>
          </a:xfrm>
          <a:prstGeom prst="ellipse">
            <a:avLst/>
          </a:prstGeom>
          <a:solidFill>
            <a:srgbClr val="2C376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CONCLUSÃO DE CURSO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da Mochila 0/1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Meta-heurísticas Local e Populacional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Tabu  vs  Algoritmo Genético</a:t>
            </a:r>
            <a:endParaRPr lang="en-US" sz="1800" dirty="0"/>
          </a:p>
        </p:txBody>
      </p:sp>
      <p:pic>
        <p:nvPicPr>
          <p:cNvPr id="9" name="Image 0" descr="/home/claude/knapsack_pptx/icons/gradcap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Maycon Carpes e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Cauã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Fortes
</a:t>
            </a: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Informação — IFSULDEMINAS, Campus Machado
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da Mochila 0/1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um conjunto de N itens, cada um com peso </a:t>
            </a: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wᵢ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lucro </a:t>
            </a: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 uma mochila com capacidade </a:t>
            </a: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objetivo é selecionar o subconjunto de itens que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o lucro total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 exceder a capacidade da mochila. Cada item é indivisível — incluído (1) ou não (0).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6035040" cy="1417320"/>
          </a:xfrm>
          <a:prstGeom prst="roundRect">
            <a:avLst>
              <a:gd name="adj" fmla="val 516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749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maximizar   </a:t>
            </a:r>
            <a:r>
              <a:rPr lang="en-US" sz="15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pᵢxᵢ</a:t>
            </a:r>
            <a:r>
              <a:rPr lang="en-US" sz="15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sujeito a   </a:t>
            </a:r>
            <a:r>
              <a:rPr lang="en-US" sz="15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wᵢxᵢ ≤ C,   xᵢ ∈ {0,1}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Formulação matemática do problema de otimização combinatória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6636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9" name="Image 0" descr="/home/claude/knapsack_pptx/icons/flas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67528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5193792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NP-Difícil
</a:t>
            </a: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de busca cresce exponencialmente (2ᴺ)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2103120"/>
            <a:ext cx="3291840" cy="3291840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 w="19050">
            <a:solidFill>
              <a:srgbClr val="17203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554480"/>
            <a:ext cx="2286000" cy="1005840"/>
          </a:xfrm>
          <a:prstGeom prst="roundRect">
            <a:avLst>
              <a:gd name="adj" fmla="val 22727"/>
            </a:avLst>
          </a:prstGeom>
          <a:solidFill>
            <a:srgbClr val="2C3768"/>
          </a:solidFill>
          <a:ln w="19050">
            <a:solidFill>
              <a:srgbClr val="17203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0" y="3931920"/>
            <a:ext cx="2194560" cy="1188720"/>
          </a:xfrm>
          <a:prstGeom prst="roundRect">
            <a:avLst>
              <a:gd name="adj" fmla="val 15385"/>
            </a:avLst>
          </a:prstGeom>
          <a:solidFill>
            <a:srgbClr val="2C3768"/>
          </a:solidFill>
          <a:ln/>
        </p:spPr>
      </p:sp>
      <p:sp>
        <p:nvSpPr>
          <p:cNvPr id="14" name="Shape 11"/>
          <p:cNvSpPr/>
          <p:nvPr/>
        </p:nvSpPr>
        <p:spPr>
          <a:xfrm>
            <a:off x="7818120" y="1874520"/>
            <a:ext cx="320040" cy="1463040"/>
          </a:xfrm>
          <a:prstGeom prst="roundRect">
            <a:avLst>
              <a:gd name="adj" fmla="val 42857"/>
            </a:avLst>
          </a:prstGeom>
          <a:solidFill>
            <a:srgbClr val="17203E"/>
          </a:solidFill>
          <a:ln/>
        </p:spPr>
      </p:sp>
      <p:sp>
        <p:nvSpPr>
          <p:cNvPr id="15" name="Shape 12"/>
          <p:cNvSpPr/>
          <p:nvPr/>
        </p:nvSpPr>
        <p:spPr>
          <a:xfrm>
            <a:off x="10515600" y="1874520"/>
            <a:ext cx="320040" cy="1463040"/>
          </a:xfrm>
          <a:prstGeom prst="roundRect">
            <a:avLst>
              <a:gd name="adj" fmla="val 42857"/>
            </a:avLst>
          </a:prstGeom>
          <a:solidFill>
            <a:srgbClr val="17203E"/>
          </a:solidFill>
          <a:ln/>
        </p:spPr>
      </p:sp>
      <p:pic>
        <p:nvPicPr>
          <p:cNvPr id="16" name="Image 1" descr="/home/claude/knapsack_pptx/icons/weigh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343400"/>
            <a:ext cx="384048" cy="384048"/>
          </a:xfrm>
          <a:prstGeom prst="rect">
            <a:avLst/>
          </a:prstGeom>
        </p:spPr>
      </p:pic>
      <p:pic>
        <p:nvPicPr>
          <p:cNvPr id="17" name="Image 2" descr="/home/claude/knapsack_pptx/icons/coins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468880"/>
            <a:ext cx="502920" cy="502920"/>
          </a:xfrm>
          <a:prstGeom prst="rect">
            <a:avLst/>
          </a:prstGeom>
        </p:spPr>
      </p:pic>
      <p:pic>
        <p:nvPicPr>
          <p:cNvPr id="18" name="Image 3" descr="/home/claude/knapsack_pptx/icons/coins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3291840"/>
            <a:ext cx="384048" cy="384048"/>
          </a:xfrm>
          <a:prstGeom prst="rect">
            <a:avLst/>
          </a:prstGeom>
        </p:spPr>
      </p:pic>
      <p:pic>
        <p:nvPicPr>
          <p:cNvPr id="19" name="Image 4" descr="/home/claude/knapsack_pptx/icons/weigh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393192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858000" y="5623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itens: peso × lucro  →  seleção ótima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Instâncias de Teste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instâncias benchmark, de 5 a 100 itens, cobrindo diferentes escalas de complexidade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4206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Instância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Nº Itens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Capacidade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Ótimo Conhecido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P01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165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P02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26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P03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190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170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6.404.180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knapPI_1_100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100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995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9.147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Pisinger / GitHub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P01–P08: Burkardt (Florida State University)   ·   knapPI_1_100: Pisinger (100 itens, alta complexidade combinatória)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do Projeto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modular em Python, orientada a princípios de Clean Code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6" name="Image 0" descr="/home/claude/knapsack_pptx/icons/folder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KnapsackInstance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ExecutionResult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78708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0" name="Image 1" descr="/home/claude/knapsack_pptx/icons/cog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876" y="2148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4508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algorithms/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653028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BaseAlgorithm (abstrata)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TabuSearch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GeneticAlgorithm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08776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4" name="Image 2" descr="/home/claude/knapsack_pptx/icons/code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44" y="21488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94576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483096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(factibilidade)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(construção)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038844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8" name="Image 3" descr="/home/claude/knapsack_pptx/icons/chartbar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0012" y="21488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724644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runners/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9313164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ExperimentRunner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793742" y="3703320"/>
            <a:ext cx="2574036" cy="960120"/>
          </a:xfrm>
          <a:prstGeom prst="roundRect">
            <a:avLst>
              <a:gd name="adj" fmla="val 7619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22" name="Image 4" descr="/home/claude/knapsack_pptx/icons/filecode_i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4910" y="388620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79542" y="383133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068062" y="4270248"/>
            <a:ext cx="2071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instâncias benchmark (.txt / .csv)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pic>
        <p:nvPicPr>
          <p:cNvPr id="26" name="Image 5" descr="/home/claude/knapsack_pptx/icons/sitemap_go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276088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63040" y="498348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Princípios de projeto: 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  ·  Single Responsibility Principle (SRP)  ·  Polimorfismo via classe abstrata BaseAlgorithm, permitindo adicionar novas meta-heurísticas sem alterar o núcleo do sistema.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LOCAL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Tabu — Conceito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de </a:t>
            </a: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local com memória de curto prazo</a:t>
            </a: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Explora vizinhanças da solução atual, evitando revisitar movimentos recentes por meio de uma </a:t>
            </a:r>
            <a:r>
              <a:rPr lang="en-US" sz="14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tabu</a:t>
            </a: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7484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2136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knapsack_pptx/icons/random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278892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8924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Inicial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88924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(Heurística Gulosa)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772004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28036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72688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knapsack_pptx/icons/search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1560" y="27889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119476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Vizinhança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119476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(flip de 1 bit)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902556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158588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803240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knapsack_pptx/icons/xmark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2112" y="278892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50028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Lista Tabu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250028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repetições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033108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289140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933792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3" descr="/home/claude/knapsack_pptx/icons/check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664" y="2788920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80580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Aspiração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7380580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exceção se melhora o global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163660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9419692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064344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4" descr="/home/claude/knapsack_pptx/icons/target_i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3216" y="2788920"/>
            <a:ext cx="347472" cy="34747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511132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Melhor</a:t>
            </a:r>
            <a:endParaRPr lang="en-US" sz="1150" dirty="0"/>
          </a:p>
        </p:txBody>
      </p:sp>
      <p:sp>
        <p:nvSpPr>
          <p:cNvPr id="33" name="Text 26"/>
          <p:cNvSpPr/>
          <p:nvPr/>
        </p:nvSpPr>
        <p:spPr>
          <a:xfrm>
            <a:off x="9511132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repetir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897484" y="4434840"/>
            <a:ext cx="10396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processo iterativo até o critério de parada (nº máximo de iterações)</a:t>
            </a:r>
            <a:endParaRPr lang="en-US" sz="1150" dirty="0"/>
          </a:p>
        </p:txBody>
      </p:sp>
      <p:sp>
        <p:nvSpPr>
          <p:cNvPr id="35" name="Shape 28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/>
        </p:spPr>
      </p:sp>
      <p:pic>
        <p:nvPicPr>
          <p:cNvPr id="36" name="Image 5" descr="/home/claude/knapsack_pptx/icons/brain_go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486400"/>
            <a:ext cx="457200" cy="45720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463040" y="52578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Tabu FIFO: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 os últimos movimentos realizados e os proíbe temporariamente, evitando ciclos e forçando a exploração de novas regiões do espaço de busca.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EXPERIMENTAL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Tabu — Parâmetros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035040" cy="146304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Parâmetro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Valores Testados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</a:rPr>
                        <a:t>Tamanho da Lista Tabu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4AF37"/>
                          </a:solidFill>
                        </a:rPr>
                        <a:t>5   ·   10   ·   20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</a:rPr>
                        <a:t>Iterações Máximas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4AF37"/>
                          </a:solidFill>
                        </a:rPr>
                        <a:t>100   ·   500   ·   1.000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429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3 = 9 combinações de parâmetros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040880" y="1737360"/>
            <a:ext cx="4572000" cy="3566160"/>
          </a:xfrm>
          <a:prstGeom prst="roundRect">
            <a:avLst>
              <a:gd name="adj" fmla="val 2564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4" name="Image 0" descr="/home/claude/knapsack_pptx/icons/cogs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011680"/>
            <a:ext cx="594360" cy="594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040880" y="26974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243</a:t>
            </a:r>
            <a:endParaRPr lang="en-US" sz="6200" dirty="0"/>
          </a:p>
        </p:txBody>
      </p:sp>
      <p:sp>
        <p:nvSpPr>
          <p:cNvPr id="9" name="Text 5"/>
          <p:cNvSpPr/>
          <p:nvPr/>
        </p:nvSpPr>
        <p:spPr>
          <a:xfrm>
            <a:off x="704088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execuções totais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80960" y="4114800"/>
            <a:ext cx="3291840" cy="0"/>
          </a:xfrm>
          <a:prstGeom prst="line">
            <a:avLst/>
          </a:prstGeom>
          <a:noFill/>
          <a:ln w="12700">
            <a:solidFill>
              <a:srgbClr val="2A35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040880" y="4251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repetições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POPULACIONAL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 Genético — Conceito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</a:t>
            </a: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populacional</a:t>
            </a: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inspirada na evolução natural. Mantém uma população de soluções que evolui por seleção, cruzamento e mutação ao longo de gerações.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13436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6356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knapsack_pptx/icons/layers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40" y="23957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8300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Inicialização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830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 aleatória + gulosa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967332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127352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30272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knapsack_pptx/icons/chartline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856" y="239572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182216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Fitness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182216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total da solução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581248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741268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44188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knapsack_pptx/icons/target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772" y="2395728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796132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por Torneio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3796132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195164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55184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858104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3" descr="/home/claude/knapsack_pptx/icons/random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688" y="2395728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410048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Crossover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5410048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de corte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6809080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6969100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472020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4" descr="/home/claude/knapsack_pptx/icons/dna_i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2604" y="2395728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023964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Mutação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7023964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bit-flip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422996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8583016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085936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7" name="Image 5" descr="/home/claude/knapsack_pptx/icons/check_go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6520" y="2395728"/>
            <a:ext cx="274320" cy="2743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8637880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Elitismo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863788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 os melhores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10036912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1" name="Shape 33"/>
          <p:cNvSpPr/>
          <p:nvPr/>
        </p:nvSpPr>
        <p:spPr>
          <a:xfrm>
            <a:off x="10196932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10699852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3" name="Image 6" descr="/home/claude/knapsack_pptx/icons/sitemap_i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0436" y="239572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10251796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Geração</a:t>
            </a:r>
            <a:endParaRPr lang="en-US" sz="950" dirty="0"/>
          </a:p>
        </p:txBody>
      </p:sp>
      <p:sp>
        <p:nvSpPr>
          <p:cNvPr id="45" name="Text 36"/>
          <p:cNvSpPr/>
          <p:nvPr/>
        </p:nvSpPr>
        <p:spPr>
          <a:xfrm>
            <a:off x="10251796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repetir</a:t>
            </a:r>
            <a:endParaRPr lang="en-US" sz="800" dirty="0"/>
          </a:p>
        </p:txBody>
      </p:sp>
      <p:sp>
        <p:nvSpPr>
          <p:cNvPr id="46" name="Text 37"/>
          <p:cNvSpPr/>
          <p:nvPr/>
        </p:nvSpPr>
        <p:spPr>
          <a:xfrm>
            <a:off x="513436" y="3840480"/>
            <a:ext cx="1116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gerações sucessivas até o critério de parada (nº máximo de gerações)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548640" y="53949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pic>
        <p:nvPicPr>
          <p:cNvPr id="48" name="Image 7" descr="/home/claude/knapsack_pptx/icons/brain_gol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577840"/>
            <a:ext cx="438912" cy="438912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1463040" y="53949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 de factibilidade: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que excedem a capacidade são corrigidas removendo iterativamente os itens com menor razão lucro/peso, garantindo indivíduos sempre válidos.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EXPERIMENTAL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 Genético — Parâmetros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035040" cy="2651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Parâmetro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Valores Testados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Tamanho da População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50   ·   100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Número de Gerações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100   ·   500   ·   1.000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Taxa de Mutação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0.01   ·   0.05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Taxa de Crossover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0.8  (fixa)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3 × 2 = 12 combinações de parâmetros (crossover fixo)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040880" y="1737360"/>
            <a:ext cx="4572000" cy="3566160"/>
          </a:xfrm>
          <a:prstGeom prst="roundRect">
            <a:avLst>
              <a:gd name="adj" fmla="val 2564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7" name="Image 0" descr="/home/claude/knapsack_pptx/icons/dna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011680"/>
            <a:ext cx="594360" cy="594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040880" y="26974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</a:t>
            </a:r>
            <a:endParaRPr lang="en-US" sz="6200" dirty="0"/>
          </a:p>
        </p:txBody>
      </p:sp>
      <p:sp>
        <p:nvSpPr>
          <p:cNvPr id="4" name="Text 5"/>
          <p:cNvSpPr/>
          <p:nvPr/>
        </p:nvSpPr>
        <p:spPr>
          <a:xfrm>
            <a:off x="704088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execuções totais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80960" y="4114800"/>
            <a:ext cx="3291840" cy="0"/>
          </a:xfrm>
          <a:prstGeom prst="line">
            <a:avLst/>
          </a:prstGeom>
          <a:noFill/>
          <a:ln w="12700">
            <a:solidFill>
              <a:srgbClr val="2A35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040880" y="4251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repetições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Comparativos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8250948"/>
              </p:ext>
            </p:extLst>
          </p:nvPr>
        </p:nvGraphicFramePr>
        <p:xfrm>
          <a:off x="548640" y="1600200"/>
          <a:ext cx="11064240" cy="404774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Instância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Ótimo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Melhor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Tabu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Gap (%)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Tabu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Melhor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AG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Gap (%)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AG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P02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7.84%</a:t>
                      </a:r>
                      <a:endParaRPr lang="en-US" sz="1150" dirty="0">
                        <a:solidFill>
                          <a:srgbClr val="D97757"/>
                        </a:solidFill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P03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103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3.74%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858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4.67%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P06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1.456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0.14%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13.415.886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0.73%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knapPI_1_100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9.147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8.817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3.61%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9.147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06440"/>
            <a:ext cx="539496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pic>
        <p:nvPicPr>
          <p:cNvPr id="6" name="Image 0" descr="/home/claude/knapsack_pptx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71032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80160" y="5806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0% em todas as 9 instâncias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217920" y="5806440"/>
            <a:ext cx="5394960" cy="685800"/>
          </a:xfrm>
          <a:prstGeom prst="roundRect">
            <a:avLst>
              <a:gd name="adj" fmla="val 1066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9" name="Image 1" descr="/home/claude/knapsack_pptx/icons/x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5971032"/>
            <a:ext cx="365760" cy="365760"/>
          </a:xfrm>
          <a:prstGeom prst="rect">
            <a:avLst/>
          </a:prstGeom>
        </p:spPr>
      </p:pic>
      <p:sp>
        <p:nvSpPr>
          <p:cNvPr id="4" name="Text 5"/>
          <p:cNvSpPr/>
          <p:nvPr/>
        </p:nvSpPr>
        <p:spPr>
          <a:xfrm>
            <a:off x="6949440" y="5806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ótimo em 4/9, gap máximo de 7.84%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Desempenho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pic>
        <p:nvPicPr>
          <p:cNvPr id="5" name="Image 0" descr="/home/claude/knapsack_pptx/icons/clo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Tempo de Execução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2402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é mais rápido em instâncias pequenas (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0.001s</a:t>
            </a: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0.02s</a:t>
            </a: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AG), mas o AG escala melhor à medida que o tamanho da instância cresce.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pic>
        <p:nvPicPr>
          <p:cNvPr id="9" name="Image 1" descr="/home/claude/knapsack_pptx/icons/chartlin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3075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Convergência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22960" y="41605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converge rapidamente graças à inicialização gulosa; o AG converge de forma gradual, sustentado pela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populacional</a:t>
            </a: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evita ótimos locais.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852160" y="16002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(%) em relação ao ótimo — Tabu vs AG</a:t>
            </a:r>
            <a:endParaRPr lang="en-US" sz="12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5852160" y="1965960"/>
          <a:ext cx="57607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Text 9"/>
          <p:cNvSpPr/>
          <p:nvPr/>
        </p:nvSpPr>
        <p:spPr>
          <a:xfrm>
            <a:off x="5852160" y="53492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mantém gap 0% em todas as instâncias; Tabu apresenta gaps crescentes com a complexidade.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4812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knapsack_pptx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043684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3794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encontrou o ótimo em 100% das instâncias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69164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 consistente independente da escala do problema.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94436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31775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knapsack_pptx/icons/clock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329641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09067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é mais rápido, mas pode ficar preso em ótimos locais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691640" y="34930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opção quando o tempo de execução é crítico e a instância é pequena.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19709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43026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knapsack_pptx/icons/layers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549140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343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tem overhead de população, mas maior diversidade de busca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691640" y="474573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computacional adicional é compensado pela qualidade da solução.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44982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5682996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/home/claude/knapsack_pptx/icons/target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580186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59612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eficazes em instâncias pequenas/médias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691640" y="599846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se mostra superior em instâncias maiores, como a de 100 itens.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5029200" cy="50292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para perguntas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23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E FONTES</a:t>
            </a:r>
            <a:endParaRPr lang="en-US" sz="1200" dirty="0"/>
          </a:p>
        </p:txBody>
      </p:sp>
      <p:pic>
        <p:nvPicPr>
          <p:cNvPr id="7" name="Image 0" descr="/home/claude/knapsack_pptx/icons/table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8036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8346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das instâncias
</a:t>
            </a: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Burkardt (Florida State University) e Pisinger / GitHub</a:t>
            </a:r>
            <a:endParaRPr lang="en-US" sz="1250" dirty="0"/>
          </a:p>
        </p:txBody>
      </p:sp>
      <p:pic>
        <p:nvPicPr>
          <p:cNvPr id="9" name="Image 1" descr="/home/claude/knapsack_pptx/icons/code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53872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493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implementação
</a:t>
            </a: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250" dirty="0"/>
          </a:p>
        </p:txBody>
      </p:sp>
      <p:pic>
        <p:nvPicPr>
          <p:cNvPr id="11" name="Image 2" descr="/home/claude/knapsack_pptx/icons/filecode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97096"/>
            <a:ext cx="310896" cy="3108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415137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 geradas
</a:t>
            </a: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resultados.csv  e  relatório.docx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7589520" y="4480560"/>
            <a:ext cx="4023360" cy="1737360"/>
          </a:xfrm>
          <a:prstGeom prst="roundRect">
            <a:avLst>
              <a:gd name="adj" fmla="val 5263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4" name="Image 3" descr="/home/claude/knapsack_pptx/icons/gradcap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47091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412480" y="46634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Maycon
</a:t>
            </a:r>
            <a:r>
              <a:rPr lang="en-US" sz="11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Informação
IFSULDEMINAS — Campus Machado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1038</Words>
  <Application>Microsoft Office PowerPoint</Application>
  <PresentationFormat>Widescreen</PresentationFormat>
  <Paragraphs>275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maycon Carpes</cp:lastModifiedBy>
  <cp:revision>2</cp:revision>
  <dcterms:created xsi:type="dcterms:W3CDTF">2026-08-30T21:54:14Z</dcterms:created>
  <dcterms:modified xsi:type="dcterms:W3CDTF">2026-09-20T18:20:16Z</dcterms:modified>
</cp:coreProperties>
</file>